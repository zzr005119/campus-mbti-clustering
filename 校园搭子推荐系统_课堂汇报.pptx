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32b0fac76fbbc85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1760290dab32d87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f17f9fe9698542d.png"/>
  <Relationship Id="rId3" Type="http://schemas.openxmlformats.org/officeDocument/2006/relationships/image" Target="../media/image_a09b9543014f471e.png"/>
  <Relationship Id="rId4" Type="http://schemas.openxmlformats.org/officeDocument/2006/relationships/image" Target="../media/image_fedb574bd57bac2f.png"/>
  <Relationship Id="rId5" Type="http://schemas.openxmlformats.org/officeDocument/2006/relationships/image" Target="../media/image_04e7a47ff7bcb738.png"/>
  <Relationship Id="rId6" Type="http://schemas.openxmlformats.org/officeDocument/2006/relationships/image" Target="../media/image_732b0fac76fbbc85.pn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AFB"/>
              </a:gs>
              <a:gs pos="50000">
                <a:srgbClr val="FFF0F3"/>
              </a:gs>
              <a:gs pos="100000">
                <a:srgbClr val="FFE8E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285750"/>
            <a:ext cx="2857500" cy="2857500"/>
          </a:xfrm>
          <a:prstGeom prst="ellipse">
            <a:avLst/>
          </a:prstGeom>
          <a:solidFill>
            <a:srgbClr val="FFD93D">
              <a:alpha val="8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571500"/>
            <a:ext cx="2286000" cy="2286000"/>
          </a:xfrm>
          <a:prstGeom prst="ellipse">
            <a:avLst/>
          </a:prstGeom>
          <a:noFill/>
          <a:ln w="28575">
            <a:solidFill>
              <a:srgbClr val="2D3436"/>
            </a:solidFill>
          </a:ln>
        </p:spPr>
      </p:sp>
      <p:sp>
        <p:nvSpPr>
          <p:cNvPr id="5" name="Ellipse 5"/>
          <p:cNvSpPr/>
          <p:nvPr/>
        </p:nvSpPr>
        <p:spPr>
          <a:xfrm>
            <a:off x="11049000" y="1143000"/>
            <a:ext cx="381000" cy="381000"/>
          </a:xfrm>
          <a:prstGeom prst="ellipse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906000" y="2190750"/>
            <a:ext cx="190500" cy="190500"/>
          </a:xfrm>
          <a:prstGeom prst="ellipse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725150" y="2343150"/>
            <a:ext cx="266700" cy="266700"/>
          </a:xfrm>
          <a:prstGeom prst="ellipse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0" y="590550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1905000" h="952500">
                <a:moveTo>
                  <a:pt x="762000" y="0"/>
                </a:moveTo>
                <a:lnTo>
                  <a:pt x="190500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A29BFE">
              <a:alpha val="70000"/>
            </a:srgbClr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143000" y="5524500"/>
            <a:ext cx="1905000" cy="1333500"/>
          </a:xfrm>
          <a:custGeom>
            <a:avLst/>
            <a:gdLst/>
            <a:ahLst/>
            <a:cxnLst/>
            <a:rect l="l" t="t" r="r" b="b"/>
            <a:pathLst>
              <a:path w="1905000" h="1333500">
                <a:moveTo>
                  <a:pt x="762000" y="0"/>
                </a:moveTo>
                <a:lnTo>
                  <a:pt x="1905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00D2D3">
              <a:alpha val="6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0" y="3365500"/>
            <a:ext cx="12192000" cy="508000"/>
          </a:xfrm>
          <a:custGeom>
            <a:avLst/>
            <a:gdLst/>
            <a:ahLst/>
            <a:cxnLst/>
            <a:rect l="l" t="t" r="r" b="b"/>
            <a:pathLst>
              <a:path w="12192000" h="508000">
                <a:moveTo>
                  <a:pt x="0" y="254000"/>
                </a:moveTo>
                <a:cubicBezTo>
                  <a:pt x="508000" y="0"/>
                  <a:pt x="1016000" y="0"/>
                  <a:pt x="1524000" y="254000"/>
                </a:cubicBezTo>
                <a:cubicBezTo>
                  <a:pt x="2032000" y="508000"/>
                  <a:pt x="2540000" y="508000"/>
                  <a:pt x="3048000" y="254000"/>
                </a:cubicBezTo>
                <a:cubicBezTo>
                  <a:pt x="3556000" y="0"/>
                  <a:pt x="4064000" y="0"/>
                  <a:pt x="4572000" y="254000"/>
                </a:cubicBezTo>
                <a:cubicBezTo>
                  <a:pt x="5080000" y="508000"/>
                  <a:pt x="5588000" y="508000"/>
                  <a:pt x="6096000" y="254000"/>
                </a:cubicBezTo>
                <a:cubicBezTo>
                  <a:pt x="6604000" y="0"/>
                  <a:pt x="7112000" y="0"/>
                  <a:pt x="7620000" y="254000"/>
                </a:cubicBezTo>
                <a:cubicBezTo>
                  <a:pt x="8128000" y="508000"/>
                  <a:pt x="8636000" y="508000"/>
                  <a:pt x="9144000" y="254000"/>
                </a:cubicBezTo>
                <a:cubicBezTo>
                  <a:pt x="9652000" y="0"/>
                  <a:pt x="10160000" y="0"/>
                  <a:pt x="10668000" y="254000"/>
                </a:cubicBezTo>
                <a:cubicBezTo>
                  <a:pt x="11176000" y="508000"/>
                  <a:pt x="11684000" y="508000"/>
                  <a:pt x="12192000" y="254000"/>
                </a:cubicBezTo>
              </a:path>
            </a:pathLst>
          </a:custGeom>
          <a:noFill/>
          <a:ln w="57150">
            <a:solidFill>
              <a:srgbClr val="FF6B8A">
                <a:alpha val="4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600200" y="1028700"/>
            <a:ext cx="228600" cy="228600"/>
          </a:xfrm>
          <a:prstGeom prst="ellipse">
            <a:avLst/>
          </a:prstGeom>
          <a:solidFill>
            <a:srgbClr val="FFD93D">
              <a:alpha val="5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305050" y="1828800"/>
            <a:ext cx="152400" cy="152400"/>
          </a:xfrm>
          <a:prstGeom prst="ellipse">
            <a:avLst/>
          </a:prstGeom>
          <a:solidFill>
            <a:srgbClr val="00D2D3">
              <a:alpha val="4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953500" y="5429250"/>
            <a:ext cx="190500" cy="190500"/>
          </a:xfrm>
          <a:prstGeom prst="ellipse">
            <a:avLst/>
          </a:prstGeom>
          <a:solidFill>
            <a:srgbClr val="A29BFE">
              <a:alpha val="5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5657850" y="1466850"/>
            <a:ext cx="114300" cy="114300"/>
          </a:xfrm>
          <a:prstGeom prst="ellipse">
            <a:avLst/>
          </a:prstGeom>
          <a:solidFill>
            <a:srgbClr val="FF6B8A">
              <a:alpha val="3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52500" y="28575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FFD93D">
              <a:alpha val="5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524000" y="3238500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D2D3">
              <a:alpha val="4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0477500" y="4762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049000" y="5048250"/>
            <a:ext cx="333375" cy="333375"/>
          </a:xfrm>
          <a:prstGeom prst="roundRect">
            <a:avLst>
              <a:gd name="adj" fmla="val 8571"/>
            </a:avLst>
          </a:prstGeom>
          <a:solidFill>
            <a:srgbClr val="FF6B8A">
              <a:alpha val="35000"/>
            </a:srgbClr>
          </a:solidFill>
          <a:ln>
            <a:noFill/>
          </a:ln>
        </p:spPr>
      </p:sp>
      <p:sp>
        <p:nvSpPr>
          <p:cNvPr id="19" name="Polyline 19"/>
          <p:cNvSpPr/>
          <p:nvPr/>
        </p:nvSpPr>
        <p:spPr>
          <a:xfrm>
            <a:off x="0" y="6477000"/>
            <a:ext cx="12192000" cy="190500"/>
          </a:xfrm>
          <a:custGeom>
            <a:avLst/>
            <a:gdLst/>
            <a:ahLst/>
            <a:cxnLst/>
            <a:rect l="l" t="t" r="r" b="b"/>
            <a:pathLst>
              <a:path w="12192000" h="190500">
                <a:moveTo>
                  <a:pt x="0" y="190500"/>
                </a:moveTo>
                <a:lnTo>
                  <a:pt x="381000" y="0"/>
                </a:lnTo>
                <a:lnTo>
                  <a:pt x="762000" y="190500"/>
                </a:lnTo>
                <a:lnTo>
                  <a:pt x="1143000" y="0"/>
                </a:lnTo>
                <a:lnTo>
                  <a:pt x="1524000" y="190500"/>
                </a:lnTo>
                <a:lnTo>
                  <a:pt x="1905000" y="0"/>
                </a:lnTo>
                <a:lnTo>
                  <a:pt x="2286000" y="190500"/>
                </a:lnTo>
                <a:lnTo>
                  <a:pt x="2667000" y="0"/>
                </a:lnTo>
                <a:lnTo>
                  <a:pt x="3048000" y="190500"/>
                </a:lnTo>
                <a:lnTo>
                  <a:pt x="3429000" y="0"/>
                </a:lnTo>
                <a:lnTo>
                  <a:pt x="3810000" y="190500"/>
                </a:lnTo>
                <a:lnTo>
                  <a:pt x="4191000" y="0"/>
                </a:lnTo>
                <a:lnTo>
                  <a:pt x="4572000" y="190500"/>
                </a:lnTo>
                <a:lnTo>
                  <a:pt x="4953000" y="0"/>
                </a:lnTo>
                <a:lnTo>
                  <a:pt x="5334000" y="190500"/>
                </a:lnTo>
                <a:lnTo>
                  <a:pt x="5715000" y="0"/>
                </a:lnTo>
                <a:lnTo>
                  <a:pt x="6096000" y="190500"/>
                </a:lnTo>
                <a:lnTo>
                  <a:pt x="6477000" y="0"/>
                </a:lnTo>
                <a:lnTo>
                  <a:pt x="6858000" y="190500"/>
                </a:lnTo>
                <a:lnTo>
                  <a:pt x="7239000" y="0"/>
                </a:lnTo>
                <a:lnTo>
                  <a:pt x="7620000" y="190500"/>
                </a:lnTo>
                <a:lnTo>
                  <a:pt x="8001000" y="0"/>
                </a:lnTo>
                <a:lnTo>
                  <a:pt x="8382000" y="190500"/>
                </a:lnTo>
                <a:lnTo>
                  <a:pt x="8763000" y="0"/>
                </a:lnTo>
                <a:lnTo>
                  <a:pt x="9144000" y="190500"/>
                </a:lnTo>
                <a:lnTo>
                  <a:pt x="9525000" y="0"/>
                </a:lnTo>
                <a:lnTo>
                  <a:pt x="9906000" y="190500"/>
                </a:lnTo>
                <a:lnTo>
                  <a:pt x="10287000" y="0"/>
                </a:lnTo>
                <a:lnTo>
                  <a:pt x="10668000" y="190500"/>
                </a:lnTo>
                <a:lnTo>
                  <a:pt x="11049000" y="0"/>
                </a:lnTo>
                <a:lnTo>
                  <a:pt x="11430000" y="190500"/>
                </a:lnTo>
                <a:lnTo>
                  <a:pt x="11811000" y="0"/>
                </a:lnTo>
                <a:lnTo>
                  <a:pt x="12192000" y="190500"/>
                </a:lnTo>
              </a:path>
            </a:pathLst>
          </a:custGeom>
          <a:noFill/>
          <a:ln w="28575">
            <a:solidFill>
              <a:srgbClr val="2D3436">
                <a:alpha val="15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62000" y="1524000"/>
            <a:ext cx="6667500" cy="1714500"/>
          </a:xfrm>
          <a:prstGeom prst="roundRect">
            <a:avLst>
              <a:gd name="adj" fmla="val 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861947" y="1864995"/>
            <a:ext cx="4467606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校园搭子推荐系统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58018" y="2584132"/>
            <a:ext cx="44754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D93D"/>
                </a:solidFill>
                <a:latin typeface="Segoe UI"/>
                <a:ea typeface="Microsoft YaHei"/>
                <a:cs typeface="Segoe UI"/>
              </a:rPr>
              <a:t>基于MBTI心理特质与微观消费特征的智能匹配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524250"/>
            <a:ext cx="4762500" cy="3810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3619500"/>
            <a:ext cx="28575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2950" y="393382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机器学习课程大作业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6760" y="4251960"/>
            <a:ext cx="48950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K-Means Clustering + Random Forest + Recommendation System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376970" y="6711791"/>
            <a:ext cx="4445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2026.06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1520" y="33147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55" y="711518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目录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333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89660" y="1642110"/>
            <a:ext cx="58274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6B8A">
                    <a:alphaMod val="30000"/>
                  </a:srgbClr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0235" y="1789748"/>
            <a:ext cx="10896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项目概述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0712" y="2212181"/>
            <a:ext cx="18738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背景 / 数据采集 / 项目目标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381750" y="1333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D93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09410" y="1642110"/>
            <a:ext cx="72275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D93D">
                    <a:alphaMod val="30000"/>
                  </a:srgbClr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9985" y="1789748"/>
            <a:ext cx="10896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技术路线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0462" y="2212181"/>
            <a:ext cx="2421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 / Random Forest / Flask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619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089660" y="3928110"/>
            <a:ext cx="72275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00D2D3">
                    <a:alphaMod val="30000"/>
                  </a:srgbClr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0235" y="4075748"/>
            <a:ext cx="10896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核心成果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0712" y="4498181"/>
            <a:ext cx="2196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聚类分析 / MBTI预测 / 推荐系统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381750" y="3619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09410" y="3928110"/>
            <a:ext cx="72275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A29BFE">
                    <a:alphaMod val="30000"/>
                  </a:srgbClr>
                </a:solidFill>
                <a:latin typeface="Arial Black"/>
                <a:ea typeface="Microsoft YaHei"/>
                <a:cs typeface="Arial Black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99985" y="4075748"/>
            <a:ext cx="10896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总结展望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0462" y="4498181"/>
            <a:ext cx="2173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不足 / 未来方向 / 深度学习扩展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90500" y="1714500"/>
            <a:ext cx="3429000" cy="3429000"/>
          </a:xfrm>
          <a:prstGeom prst="ellipse">
            <a:avLst/>
          </a:prstGeom>
          <a:solidFill>
            <a:srgbClr val="FF6B8A">
              <a:alpha val="15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71500" y="2095500"/>
            <a:ext cx="2667000" cy="2667000"/>
          </a:xfrm>
          <a:prstGeom prst="ellipse">
            <a:avLst/>
          </a:prstGeom>
          <a:noFill/>
          <a:ln w="19050">
            <a:solidFill>
              <a:srgbClr val="FF6B8A">
                <a:alpha val="30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2476500"/>
            <a:ext cx="5715000" cy="5715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191000" y="2609850"/>
            <a:ext cx="3810000" cy="5715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45280" y="2754630"/>
            <a:ext cx="49949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6710" y="3423285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项目概述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1950" y="3933825"/>
            <a:ext cx="1818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PROJECT OVERVIEW</a:t>
            </a:r>
          </a:p>
        </p:txBody>
      </p:sp>
      <p:sp>
        <p:nvSpPr>
          <p:cNvPr id="13" name="Polygon 13"/>
          <p:cNvSpPr/>
          <p:nvPr/>
        </p:nvSpPr>
        <p:spPr>
          <a:xfrm>
            <a:off x="102870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1905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6B8A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125200" y="1790700"/>
            <a:ext cx="228600" cy="2286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186975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项目背景与动机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833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1545" y="1536382"/>
            <a:ext cx="9220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核心问题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308" y="1957864"/>
            <a:ext cx="15880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消费行为 + 性格特质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212" y="224075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是影响大学生社交匹配的两大维度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6308" y="2624614"/>
            <a:ext cx="2582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能否用消费数据自动识别群体类型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308" y="2891314"/>
            <a:ext cx="13415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并预测MBTI性格?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333500"/>
            <a:ext cx="5334000" cy="2286000"/>
          </a:xfrm>
          <a:prstGeom prst="roundRect">
            <a:avLst>
              <a:gd name="adj" fmla="val 5833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646545" y="1536382"/>
            <a:ext cx="9220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项目目标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2260" y="1965960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阶段一 无监督聚类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45618" y="2180749"/>
            <a:ext cx="15914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K-Means识别校园消费群体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2260" y="2346960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阶段二 有监督分类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5618" y="256174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随机森林预测MBTI性格四维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2260" y="2727960"/>
            <a:ext cx="11986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阶段三 推荐系统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5618" y="2942749"/>
            <a:ext cx="18189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Flask Web应用 + 搭子匹配引擎</a:t>
            </a:r>
          </a:p>
        </p:txBody>
      </p:sp>
      <p:sp>
        <p:nvSpPr>
          <p:cNvPr id="22" name="Ellipse 22"/>
          <p:cNvSpPr/>
          <p:nvPr/>
        </p:nvSpPr>
        <p:spPr>
          <a:xfrm>
            <a:off x="10953750" y="4286250"/>
            <a:ext cx="952500" cy="952500"/>
          </a:xfrm>
          <a:prstGeom prst="ellipse">
            <a:avLst/>
          </a:prstGeom>
          <a:solidFill>
            <a:srgbClr val="FFD93D">
              <a:alpha val="30000"/>
            </a:srgbClr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666750" y="4953000"/>
            <a:ext cx="571500" cy="571500"/>
          </a:xfrm>
          <a:prstGeom prst="ellipse">
            <a:avLst/>
          </a:prstGeom>
          <a:solidFill>
            <a:srgbClr val="A29BFE">
              <a:alpha val="2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10896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数据采集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38716" y="1422082"/>
            <a:ext cx="54206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69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6380" y="19345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原始问卷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429000" y="1333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396216" y="1422082"/>
            <a:ext cx="54206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62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3880" y="19345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有效样本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333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306223" y="1422082"/>
            <a:ext cx="43705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19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01389" y="1934528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题目数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144000" y="1333500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226731" y="1422082"/>
            <a:ext cx="311039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8897" y="1934528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模块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2950" y="26003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问卷五大模块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238500"/>
            <a:ext cx="3333750" cy="47625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33462" y="3421856"/>
            <a:ext cx="2376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基础信息：性别/年级/生活费/来源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905250"/>
            <a:ext cx="3333750" cy="47625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33462" y="4088606"/>
            <a:ext cx="26088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细分消费：餐饮/社交/服饰/学习/数码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572000"/>
            <a:ext cx="3333750" cy="47625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033462" y="47553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消费行为：决策习惯/看重因素/兴趣投入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81500" y="3238500"/>
            <a:ext cx="3333750" cy="47625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652962" y="3421856"/>
            <a:ext cx="22338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MBTI自测：E/I S/N T/F J/P 四维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381500" y="3905250"/>
            <a:ext cx="3333750" cy="47625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52962" y="408860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社交偏好：交友偏好/搭子态度/结伴场景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2857500"/>
            <a:ext cx="3524250" cy="2190750"/>
          </a:xfrm>
          <a:prstGeom prst="roundRect">
            <a:avLst>
              <a:gd name="adj" fmla="val 608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81185" y="314039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数据亮点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8665" y="355377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覆盖全国多所高校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8665" y="38395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男女比例均衡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8665" y="41252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年级跨度大一到研究生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8665" y="441102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月生活费覆盖完整区间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68665" y="469677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消费维度细分到品类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90500" y="1714500"/>
            <a:ext cx="3429000" cy="3429000"/>
          </a:xfrm>
          <a:prstGeom prst="ellipse">
            <a:avLst/>
          </a:prstGeom>
          <a:solidFill>
            <a:srgbClr val="FFD93D">
              <a:alpha val="15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71500" y="2095500"/>
            <a:ext cx="2667000" cy="2667000"/>
          </a:xfrm>
          <a:prstGeom prst="ellipse">
            <a:avLst/>
          </a:prstGeom>
          <a:noFill/>
          <a:ln w="19050">
            <a:solidFill>
              <a:srgbClr val="FFD93D">
                <a:alpha val="30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2476500"/>
            <a:ext cx="5715000" cy="571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191000" y="2609850"/>
            <a:ext cx="3810000" cy="5715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45280" y="2754630"/>
            <a:ext cx="61950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6710" y="3423285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技术路线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1950" y="3933825"/>
            <a:ext cx="19583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TECHNICAL APPROACH</a:t>
            </a:r>
          </a:p>
        </p:txBody>
      </p:sp>
      <p:sp>
        <p:nvSpPr>
          <p:cNvPr id="13" name="Polygon 13"/>
          <p:cNvSpPr/>
          <p:nvPr/>
        </p:nvSpPr>
        <p:spPr>
          <a:xfrm>
            <a:off x="102870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1905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D93D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125200" y="1790700"/>
            <a:ext cx="228600" cy="228600"/>
          </a:xfrm>
          <a:prstGeom prst="ellipse">
            <a:avLst/>
          </a:prstGeom>
          <a:solidFill>
            <a:srgbClr val="00D2D3">
              <a:alpha val="4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186975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三阶段技术路线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428750"/>
            <a:ext cx="3429000" cy="4000500"/>
          </a:xfrm>
          <a:prstGeom prst="roundRect">
            <a:avLst>
              <a:gd name="adj" fmla="val 4444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171450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69575" y="1849755"/>
            <a:ext cx="1373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3545" y="1869758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无监督聚类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14500" y="2190750"/>
            <a:ext cx="1905000" cy="28575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8212" y="2545556"/>
            <a:ext cx="9811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 聚类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8212" y="2850356"/>
            <a:ext cx="14012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肘部法则 + 轮廓系数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3155156"/>
            <a:ext cx="5761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最优K=4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34599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识别四类消费群体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3764756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scikit-learn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81500" y="1428750"/>
            <a:ext cx="3429000" cy="4000500"/>
          </a:xfrm>
          <a:prstGeom prst="roundRect">
            <a:avLst>
              <a:gd name="adj" fmla="val 4444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762500" y="171450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44570" y="184975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03545" y="1869758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有监督分类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524500" y="2190750"/>
            <a:ext cx="1905000" cy="28575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748212" y="2545556"/>
            <a:ext cx="10937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Random Forest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48212" y="2850356"/>
            <a:ext cx="12962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LOOCV 留一法验证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48212" y="3155156"/>
            <a:ext cx="1161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SMOTENC 过采样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48212" y="3459956"/>
            <a:ext cx="1176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4个独立RF分类器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48212" y="3764756"/>
            <a:ext cx="12662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imbalanced-learn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91500" y="1428750"/>
            <a:ext cx="3429000" cy="4000500"/>
          </a:xfrm>
          <a:prstGeom prst="roundRect">
            <a:avLst>
              <a:gd name="adj" fmla="val 4444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572500" y="171450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754570" y="184975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13545" y="1869758"/>
            <a:ext cx="9220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推荐系统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334500" y="2190750"/>
            <a:ext cx="1905000" cy="28575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558212" y="2545556"/>
            <a:ext cx="10712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Flask Web 后端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58212" y="28503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浅粉系前端界面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58212" y="31551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Cosine相似度匹配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58212" y="3459956"/>
            <a:ext cx="10712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TOP-5搭子推荐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58212" y="3764756"/>
            <a:ext cx="11012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Chart.js雷达图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69080" y="329755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&gt;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79080" y="329755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&gt;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616642" y="5915025"/>
            <a:ext cx="49587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数据清洗 &gt; 特征工程 &gt; 模型训练 &gt; 推理部署 &gt; 前端交互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90500" y="1714500"/>
            <a:ext cx="3429000" cy="3429000"/>
          </a:xfrm>
          <a:prstGeom prst="ellipse">
            <a:avLst/>
          </a:prstGeom>
          <a:solidFill>
            <a:srgbClr val="00D2D3">
              <a:alpha val="15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71500" y="2095500"/>
            <a:ext cx="2667000" cy="2667000"/>
          </a:xfrm>
          <a:prstGeom prst="ellipse">
            <a:avLst/>
          </a:prstGeom>
          <a:noFill/>
          <a:ln w="19050">
            <a:solidFill>
              <a:srgbClr val="00D2D3">
                <a:alpha val="30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191000" y="2476500"/>
            <a:ext cx="5715000" cy="5715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191000" y="2609850"/>
            <a:ext cx="3810000" cy="5715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45280" y="2754630"/>
            <a:ext cx="61950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6710" y="3423285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核心成果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1950" y="3933825"/>
            <a:ext cx="13482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CORE RESULTS</a:t>
            </a:r>
          </a:p>
        </p:txBody>
      </p:sp>
      <p:sp>
        <p:nvSpPr>
          <p:cNvPr id="13" name="Polygon 13"/>
          <p:cNvSpPr/>
          <p:nvPr/>
        </p:nvSpPr>
        <p:spPr>
          <a:xfrm>
            <a:off x="102870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190500"/>
                </a:lnTo>
                <a:lnTo>
                  <a:pt x="0" y="381000"/>
                </a:lnTo>
                <a:close/>
              </a:path>
            </a:pathLst>
          </a:custGeom>
          <a:solidFill>
            <a:srgbClr val="00D2D3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125200" y="1790700"/>
            <a:ext cx="228600" cy="2286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301390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K-Means 聚类结果 (K=4)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38250"/>
            <a:ext cx="2524125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2950" y="1457325"/>
            <a:ext cx="6081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群体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1045" y="1774508"/>
            <a:ext cx="13620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 Black"/>
                <a:ea typeface="Microsoft YaHei"/>
                <a:cs typeface="Arial Black"/>
              </a:rPr>
              <a:t>高消费数码型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133124"/>
            <a:ext cx="1097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月预算 4.08 | 12人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379345"/>
            <a:ext cx="15110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餐饮3.5 数码3.17 兴趣2.08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617470"/>
            <a:ext cx="886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主流MBTI: XNTP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86125" y="1238250"/>
            <a:ext cx="2524125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4ECDC4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457575" y="1457325"/>
            <a:ext cx="5581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群体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55670" y="1774508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ECDC4"/>
                </a:solidFill>
                <a:latin typeface="Arial Black"/>
                <a:ea typeface="Microsoft YaHei"/>
                <a:cs typeface="Arial Black"/>
              </a:rPr>
              <a:t>节俭生存型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64242" y="2133124"/>
            <a:ext cx="1097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月预算 2.13 | 23人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65195" y="2379345"/>
            <a:ext cx="1283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餐饮2.04 各项消费偏低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65195" y="2617470"/>
            <a:ext cx="856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主流MBTI: ISFP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00750" y="1238250"/>
            <a:ext cx="2524125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172200" y="1457325"/>
            <a:ext cx="6081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群体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70295" y="1774508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 Black"/>
                <a:ea typeface="Microsoft YaHei"/>
                <a:cs typeface="Arial Black"/>
              </a:rPr>
              <a:t>社交体验型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8868" y="2133124"/>
            <a:ext cx="1097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月预算 3.07 | 14人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79820" y="2379345"/>
            <a:ext cx="10369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社交2.64 服饰2.21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9820" y="2617470"/>
            <a:ext cx="886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主流MBTI: XSFP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15375" y="1238250"/>
            <a:ext cx="2524125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886825" y="1457325"/>
            <a:ext cx="6081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群体 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84920" y="1774508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 Black"/>
                <a:ea typeface="Microsoft YaHei"/>
                <a:cs typeface="Arial Black"/>
              </a:rPr>
              <a:t>自我提升型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93492" y="21331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月预算 3.15 | 13人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94445" y="237934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学习3.0 兴趣2.38 服饰2.77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94445" y="2617470"/>
            <a:ext cx="886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主流MBTI: XNFP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429000"/>
            <a:ext cx="5334000" cy="2952750"/>
          </a:xfrm>
          <a:prstGeom prst="roundRect">
            <a:avLst>
              <a:gd name="adj" fmla="val 4516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861310" y="36642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关键发现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9165" y="4077652"/>
            <a:ext cx="1832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节俭生存型占比最大 (37.1%)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9165" y="434435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高消费数码型预算最高但人数最少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9165" y="46110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自我提升型学习投入最高 (3.0)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9165" y="487775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社交体验型社交支出远超其他群体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9165" y="51444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四类群体之间特征差异显著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5411152"/>
            <a:ext cx="22179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K=4时轮廓系数最优，聚类效果良好</a:t>
            </a:r>
          </a:p>
        </p:txBody>
      </p:sp>
      <p:pic>
        <p:nvPicPr>
          <p:cNvPr id="40" name="Imag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244" y="3571875"/>
            <a:ext cx="3070638" cy="2667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1363611" y="6554152"/>
            <a:ext cx="460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22468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MBTI 四维预测结果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38250"/>
            <a:ext cx="5334000" cy="2190750"/>
          </a:xfrm>
          <a:prstGeom prst="roundRect">
            <a:avLst>
              <a:gd name="adj" fmla="val 6087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3450" y="1409700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模型性能一览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809750"/>
            <a:ext cx="4953000" cy="333375"/>
          </a:xfrm>
          <a:prstGeom prst="roundRect">
            <a:avLst>
              <a:gd name="adj" fmla="val 17143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8212" y="1897856"/>
            <a:ext cx="8836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E/I 精力恢复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5712" y="1897856"/>
            <a:ext cx="8086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3分类(含X)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8712" y="18978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样本不足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238375"/>
            <a:ext cx="4953000" cy="333375"/>
          </a:xfrm>
          <a:prstGeom prst="roundRect">
            <a:avLst>
              <a:gd name="adj" fmla="val 17143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8212" y="2326481"/>
            <a:ext cx="921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S/N 信息处理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5712" y="2326481"/>
            <a:ext cx="4111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2分类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8712" y="2326481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61.3%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667000"/>
            <a:ext cx="4953000" cy="333375"/>
          </a:xfrm>
          <a:prstGeom prst="roundRect">
            <a:avLst>
              <a:gd name="adj" fmla="val 17143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8212" y="2755106"/>
            <a:ext cx="921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T/F 决策标准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95712" y="2755106"/>
            <a:ext cx="4111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2分类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38712" y="2755106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51.6%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3095625"/>
            <a:ext cx="4953000" cy="333375"/>
          </a:xfrm>
          <a:prstGeom prst="roundRect">
            <a:avLst>
              <a:gd name="adj" fmla="val 17143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8212" y="3183731"/>
            <a:ext cx="921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J/P 生活风格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95712" y="3183731"/>
            <a:ext cx="4111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2分类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8712" y="3183731"/>
            <a:ext cx="4411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48.4%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191250" y="1238250"/>
            <a:ext cx="5429250" cy="2190750"/>
          </a:xfrm>
          <a:prstGeom prst="roundRect">
            <a:avLst>
              <a:gd name="adj" fmla="val 608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528685" y="147351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方法说明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58915" y="1886902"/>
            <a:ext cx="2785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分类器：Random Forest (n=100, depth=5)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58915" y="2153602"/>
            <a:ext cx="19099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验证：LOOCV 留一法交叉验证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58915" y="2420302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不平衡：SMOTENC 过采样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8915" y="268700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特征：12维 (5消费+4行为+3人口学)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58915" y="2953702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目标：4个独立RF x MBTI四维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714750"/>
            <a:ext cx="5334000" cy="2381250"/>
          </a:xfrm>
          <a:prstGeom prst="roundRect">
            <a:avLst>
              <a:gd name="adj" fmla="val 5600"/>
            </a:avLst>
          </a:prstGeom>
          <a:solidFill>
            <a:srgbClr val="FFF0F3"/>
          </a:solidFill>
          <a:ln w="19050">
            <a:solidFill>
              <a:srgbClr val="FFD93D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5355" y="390239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核心发现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9165" y="436340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S/N维度预测效果最好 (61.3%)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9165" y="4630102"/>
            <a:ext cx="2147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验证了消费行为可预测MBTI的假设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9165" y="4896802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E/I维度受限于仅9份外倾样本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9165" y="5163502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数码游戏是预测E/I的最重要特征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543020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餐饮伙食是预测S/N的最重要特征</a:t>
            </a:r>
          </a:p>
        </p:txBody>
      </p:sp>
      <p:pic>
        <p:nvPicPr>
          <p:cNvPr id="40" name="Imag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46" y="3810000"/>
            <a:ext cx="2996808" cy="219075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1398615" y="65541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160972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推荐系统架构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333500"/>
            <a:ext cx="2667000" cy="762000"/>
          </a:xfrm>
          <a:prstGeom prst="roundRect">
            <a:avLst>
              <a:gd name="adj" fmla="val 175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18310" y="15211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用户输入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2322" y="1799749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7维消费画像</a:t>
            </a:r>
          </a:p>
        </p:txBody>
      </p:sp>
      <p:sp>
        <p:nvSpPr>
          <p:cNvPr id="11" name="Line 11"/>
          <p:cNvSpPr/>
          <p:nvPr/>
        </p:nvSpPr>
        <p:spPr>
          <a:xfrm>
            <a:off x="3429000" y="17145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D3436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3952875" y="166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095750" y="1143000"/>
            <a:ext cx="2667000" cy="428625"/>
          </a:xfrm>
          <a:prstGeom prst="roundRect">
            <a:avLst>
              <a:gd name="adj" fmla="val 22222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979908" y="1288256"/>
            <a:ext cx="8986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KMeans 聚类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095750" y="1762125"/>
            <a:ext cx="2667000" cy="428625"/>
          </a:xfrm>
          <a:prstGeom prst="roundRect">
            <a:avLst>
              <a:gd name="adj" fmla="val 22222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998660" y="1907381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RF MBTI预测</a:t>
            </a:r>
          </a:p>
        </p:txBody>
      </p:sp>
      <p:sp>
        <p:nvSpPr>
          <p:cNvPr id="17" name="Line 17"/>
          <p:cNvSpPr/>
          <p:nvPr/>
        </p:nvSpPr>
        <p:spPr>
          <a:xfrm>
            <a:off x="6762750" y="13525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2D3436"/>
            </a:solidFill>
          </a:ln>
        </p:spPr>
      </p:sp>
      <p:sp>
        <p:nvSpPr>
          <p:cNvPr id="18" name="Line 18"/>
          <p:cNvSpPr/>
          <p:nvPr/>
        </p:nvSpPr>
        <p:spPr>
          <a:xfrm>
            <a:off x="6762750" y="19812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2D3436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429500" y="1285875"/>
            <a:ext cx="4000500" cy="952500"/>
          </a:xfrm>
          <a:prstGeom prst="roundRect">
            <a:avLst>
              <a:gd name="adj" fmla="val 14000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854440" y="14420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多维度匹配引擎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0" y="1809750"/>
            <a:ext cx="809625" cy="266700"/>
          </a:xfrm>
          <a:prstGeom prst="roundRect">
            <a:avLst>
              <a:gd name="adj" fmla="val 21429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734538" y="19016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余弦相似度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572500" y="1809750"/>
            <a:ext cx="809625" cy="266700"/>
          </a:xfrm>
          <a:prstGeom prst="roundRect">
            <a:avLst>
              <a:gd name="adj" fmla="val 21429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733794" y="1901666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MBTI互补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525000" y="1809750"/>
            <a:ext cx="809625" cy="266700"/>
          </a:xfrm>
          <a:prstGeom prst="roundRect">
            <a:avLst>
              <a:gd name="adj" fmla="val 21429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694545" y="1901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预算匹配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477500" y="1809750"/>
            <a:ext cx="809625" cy="266700"/>
          </a:xfrm>
          <a:prstGeom prst="roundRect">
            <a:avLst>
              <a:gd name="adj" fmla="val 21429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647045" y="1901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场景契合</a:t>
            </a:r>
          </a:p>
        </p:txBody>
      </p:sp>
      <p:sp>
        <p:nvSpPr>
          <p:cNvPr id="29" name="Line 29"/>
          <p:cNvSpPr/>
          <p:nvPr/>
        </p:nvSpPr>
        <p:spPr>
          <a:xfrm>
            <a:off x="9429750" y="2238375"/>
            <a:ext cx="9525" cy="619125"/>
          </a:xfrm>
          <a:custGeom>
            <a:avLst/>
            <a:gdLst/>
            <a:ahLst/>
            <a:cxnLst/>
            <a:rect l="l" t="t" r="r" b="b"/>
            <a:pathLst>
              <a:path w="952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/>
          <a:ln w="28575">
            <a:solidFill>
              <a:srgbClr val="2D3436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9382125" y="2809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238500" y="2952750"/>
            <a:ext cx="5715000" cy="857250"/>
          </a:xfrm>
          <a:prstGeom prst="roundRect">
            <a:avLst>
              <a:gd name="adj" fmla="val 15556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151834" y="3124200"/>
            <a:ext cx="18883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TOP-5 最佳匹配搭子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59177" y="3466624"/>
            <a:ext cx="30736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0.40x相似度 + 0.20x预算 + 0.20x互补 + 0.20x场景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191000"/>
            <a:ext cx="1066800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808821" y="442626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技术栈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143000" y="49530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817608" y="5087302"/>
            <a:ext cx="9367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Flask 后端 API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619500" y="49530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150590" y="5087302"/>
            <a:ext cx="1223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HTML/CSS/JS 前端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96000" y="49530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04100" y="5087302"/>
            <a:ext cx="1069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Chart.js 雷达图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572500" y="49530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292614" y="5087302"/>
            <a:ext cx="845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scikit-learn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143000" y="561975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709095" y="57540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Cosine Similarity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619500" y="561975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AF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119086" y="57540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浅粉色系孟菲斯界面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3619" y="6554152"/>
            <a:ext cx="390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186975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可视化成果展示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3571875" cy="2571750"/>
          </a:xfrm>
          <a:prstGeom prst="roundRect">
            <a:avLst>
              <a:gd name="adj" fmla="val 3704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718587"/>
            <a:ext cx="3476625" cy="1134827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45468" y="351424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肘部法则 + 轮廓系数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33875" y="1190625"/>
            <a:ext cx="3571875" cy="2571750"/>
          </a:xfrm>
          <a:prstGeom prst="roundRect">
            <a:avLst>
              <a:gd name="adj" fmla="val 3704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89" y="1238250"/>
            <a:ext cx="2807448" cy="2095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20845" y="3514249"/>
            <a:ext cx="11884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PCA 聚类分布散点图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0" y="1190625"/>
            <a:ext cx="3571875" cy="2571750"/>
          </a:xfrm>
          <a:prstGeom prst="roundRect">
            <a:avLst>
              <a:gd name="adj" fmla="val 3704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5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5" y="1467971"/>
            <a:ext cx="3476625" cy="1636059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409986" y="35142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消费群体热力图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000500"/>
            <a:ext cx="5429250" cy="2476500"/>
          </a:xfrm>
          <a:prstGeom prst="roundRect">
            <a:avLst>
              <a:gd name="adj" fmla="val 3846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538" y="4048125"/>
            <a:ext cx="2139175" cy="20002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883694" y="62288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四维混淆矩阵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4000500"/>
            <a:ext cx="5429250" cy="2476500"/>
          </a:xfrm>
          <a:prstGeom prst="roundRect">
            <a:avLst>
              <a:gd name="adj" fmla="val 3846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386" y="4048125"/>
            <a:ext cx="2302978" cy="200025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438436" y="62288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消费群体雷达图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98615" y="65541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27735" y="532448"/>
            <a:ext cx="13496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不足与展望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38250"/>
            <a:ext cx="5334000" cy="3810000"/>
          </a:xfrm>
          <a:prstGeom prst="roundRect">
            <a:avLst>
              <a:gd name="adj" fmla="val 3500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3450" y="140970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不足与局限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212" y="18311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样本量瓶颈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0618" y="2056924"/>
            <a:ext cx="13379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62份样本属于极小样本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0618" y="2266474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E/I维度仅9份外倾样本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2631281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MBTI测量简化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618" y="2857024"/>
            <a:ext cx="1493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每维度仅1道题，精度有限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0618" y="30665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自评可能存在社会期望偏差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34313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推荐冷启动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618" y="3657124"/>
            <a:ext cx="1727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推荐范围仅限于62份已知样本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386667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新用户缺乏匹配数据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4231481"/>
            <a:ext cx="11387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E/I三分类复杂度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0618" y="4457224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问卷设置失误导致X选项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0618" y="46667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增加建模复杂度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191250" y="1238250"/>
            <a:ext cx="5429250" cy="3810000"/>
          </a:xfrm>
          <a:prstGeom prst="roundRect">
            <a:avLst>
              <a:gd name="adj" fmla="val 3500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86750" y="14573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未来改进方向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572250" y="1905000"/>
            <a:ext cx="4762500" cy="333375"/>
          </a:xfrm>
          <a:prstGeom prst="roundRect">
            <a:avLst>
              <a:gd name="adj" fmla="val 17143"/>
            </a:avLst>
          </a:prstGeom>
          <a:noFill/>
          <a:ln w="9525">
            <a:solidFill>
              <a:srgbClr val="FF6B8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49415" y="2020252"/>
            <a:ext cx="28690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数据增强 SDV/GAN 合成样本扩充至200-300条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572250" y="2333625"/>
            <a:ext cx="4762500" cy="333375"/>
          </a:xfrm>
          <a:prstGeom prst="roundRect">
            <a:avLst>
              <a:gd name="adj" fmla="val 17143"/>
            </a:avLst>
          </a:prstGeom>
          <a:noFill/>
          <a:ln w="9525">
            <a:solidFill>
              <a:srgbClr val="00D2D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49415" y="2448878"/>
            <a:ext cx="2743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特征工程 支付偏好/品牌忠诚度/促销敏感度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72250" y="2762250"/>
            <a:ext cx="4762500" cy="333375"/>
          </a:xfrm>
          <a:prstGeom prst="roundRect">
            <a:avLst>
              <a:gd name="adj" fmla="val 17143"/>
            </a:avLst>
          </a:prstGeom>
          <a:noFill/>
          <a:ln w="9525">
            <a:solidFill>
              <a:srgbClr val="FFD93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749415" y="2877502"/>
            <a:ext cx="24559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模型优化 XGBoost/LightGBM 集成模型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72250" y="3190875"/>
            <a:ext cx="4762500" cy="333375"/>
          </a:xfrm>
          <a:prstGeom prst="roundRect">
            <a:avLst>
              <a:gd name="adj" fmla="val 17143"/>
            </a:avLst>
          </a:prstGeom>
          <a:noFill/>
          <a:ln w="9525">
            <a:solidFill>
              <a:srgbClr val="A29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49415" y="3306128"/>
            <a:ext cx="2876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深度学习 MLP多任务 + Autoencoder深度聚类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72250" y="3619500"/>
            <a:ext cx="4762500" cy="333375"/>
          </a:xfrm>
          <a:prstGeom prst="roundRect">
            <a:avLst>
              <a:gd name="adj" fmla="val 17143"/>
            </a:avLst>
          </a:prstGeom>
          <a:noFill/>
          <a:ln w="9525">
            <a:solidFill>
              <a:srgbClr val="55EFC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749415" y="3734752"/>
            <a:ext cx="2490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推荐深化 协同过滤 / Siamese Network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572250" y="4048125"/>
            <a:ext cx="4762500" cy="333375"/>
          </a:xfrm>
          <a:prstGeom prst="roundRect">
            <a:avLst>
              <a:gd name="adj" fmla="val 17143"/>
            </a:avLst>
          </a:prstGeom>
          <a:noFill/>
          <a:ln w="9525">
            <a:solidFill>
              <a:srgbClr val="FDCB6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49415" y="4163378"/>
            <a:ext cx="2329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大规模部署 云端部署 + 用户反馈闭环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21660" y="5283518"/>
            <a:ext cx="31486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数据增强 + 深度学习 = 下一个突破方向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98615" y="65541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000500" y="1143000"/>
            <a:ext cx="4191000" cy="4191000"/>
          </a:xfrm>
          <a:prstGeom prst="ellipse">
            <a:avLst/>
          </a:prstGeom>
          <a:noFill/>
          <a:ln w="28575">
            <a:solidFill>
              <a:srgbClr val="FFD93D">
                <a:alpha val="3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191000" y="1333500"/>
            <a:ext cx="3810000" cy="3810000"/>
          </a:xfrm>
          <a:prstGeom prst="ellipse">
            <a:avLst/>
          </a:prstGeom>
          <a:noFill/>
          <a:ln w="23812">
            <a:solidFill>
              <a:srgbClr val="FF6B8A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4381500" y="1524000"/>
            <a:ext cx="3429000" cy="3429000"/>
          </a:xfrm>
          <a:prstGeom prst="ellipse">
            <a:avLst/>
          </a:prstGeom>
          <a:noFill/>
          <a:ln w="19050">
            <a:solidFill>
              <a:srgbClr val="00D2D3">
                <a:alpha val="2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4572000" y="1714500"/>
            <a:ext cx="3048000" cy="3048000"/>
          </a:xfrm>
          <a:prstGeom prst="ellipse">
            <a:avLst/>
          </a:prstGeom>
          <a:noFill/>
          <a:ln w="14288">
            <a:solidFill>
              <a:srgbClr val="A29BFE">
                <a:alpha val="14999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524000" y="1047750"/>
            <a:ext cx="762000" cy="762000"/>
          </a:xfrm>
          <a:prstGeom prst="ellipse">
            <a:avLst/>
          </a:prstGeom>
          <a:solidFill>
            <a:srgbClr val="FFD93D">
              <a:alpha val="2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810750" y="5048250"/>
            <a:ext cx="952500" cy="952500"/>
          </a:xfrm>
          <a:prstGeom prst="ellipse">
            <a:avLst/>
          </a:prstGeom>
          <a:solidFill>
            <a:srgbClr val="FF6B8A">
              <a:alpha val="2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43000" y="5429250"/>
            <a:ext cx="571500" cy="571500"/>
          </a:xfrm>
          <a:prstGeom prst="ellipse">
            <a:avLst/>
          </a:prstGeom>
          <a:solidFill>
            <a:srgbClr val="00D2D3">
              <a:alpha val="25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239375" y="1190625"/>
            <a:ext cx="476250" cy="476250"/>
          </a:xfrm>
          <a:prstGeom prst="ellipse">
            <a:avLst/>
          </a:prstGeom>
          <a:solidFill>
            <a:srgbClr val="A29BFE">
              <a:alpha val="25000"/>
            </a:srgbClr>
          </a:solidFill>
          <a:ln>
            <a:noFill/>
          </a:ln>
        </p:spPr>
      </p:sp>
      <p:sp>
        <p:nvSpPr>
          <p:cNvPr id="11" name="Polyline 11"/>
          <p:cNvSpPr/>
          <p:nvPr/>
        </p:nvSpPr>
        <p:spPr>
          <a:xfrm>
            <a:off x="0" y="5524500"/>
            <a:ext cx="6096000" cy="190500"/>
          </a:xfrm>
          <a:custGeom>
            <a:avLst/>
            <a:gdLst/>
            <a:ahLst/>
            <a:cxnLst/>
            <a:rect l="l" t="t" r="r" b="b"/>
            <a:pathLst>
              <a:path w="6096000" h="190500">
                <a:moveTo>
                  <a:pt x="0" y="190500"/>
                </a:moveTo>
                <a:lnTo>
                  <a:pt x="381000" y="0"/>
                </a:lnTo>
                <a:lnTo>
                  <a:pt x="762000" y="190500"/>
                </a:lnTo>
                <a:lnTo>
                  <a:pt x="1143000" y="0"/>
                </a:lnTo>
                <a:lnTo>
                  <a:pt x="1524000" y="190500"/>
                </a:lnTo>
                <a:lnTo>
                  <a:pt x="1905000" y="0"/>
                </a:lnTo>
                <a:lnTo>
                  <a:pt x="2286000" y="190500"/>
                </a:lnTo>
                <a:lnTo>
                  <a:pt x="2667000" y="0"/>
                </a:lnTo>
                <a:lnTo>
                  <a:pt x="3048000" y="190500"/>
                </a:lnTo>
                <a:lnTo>
                  <a:pt x="3429000" y="0"/>
                </a:lnTo>
                <a:lnTo>
                  <a:pt x="3810000" y="190500"/>
                </a:lnTo>
                <a:lnTo>
                  <a:pt x="4191000" y="0"/>
                </a:lnTo>
                <a:lnTo>
                  <a:pt x="4572000" y="190500"/>
                </a:lnTo>
                <a:lnTo>
                  <a:pt x="4953000" y="0"/>
                </a:lnTo>
                <a:lnTo>
                  <a:pt x="5334000" y="190500"/>
                </a:lnTo>
                <a:lnTo>
                  <a:pt x="5715000" y="0"/>
                </a:lnTo>
                <a:lnTo>
                  <a:pt x="6096000" y="190500"/>
                </a:lnTo>
              </a:path>
            </a:pathLst>
          </a:custGeom>
          <a:noFill/>
          <a:ln w="19050">
            <a:solidFill>
              <a:srgbClr val="2D3436">
                <a:alpha val="10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2762250" y="2095500"/>
            <a:ext cx="6667500" cy="1143000"/>
          </a:xfrm>
          <a:prstGeom prst="roundRect">
            <a:avLst>
              <a:gd name="adj" fmla="val 13333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874133" y="2326005"/>
            <a:ext cx="244373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dirty="0">
                <a:solidFill>
                  <a:srgbClr val="FFFAFB"/>
                </a:solidFill>
                <a:latin typeface="Arial Black"/>
                <a:ea typeface="Microsoft YaHei"/>
                <a:cs typeface="Arial Black"/>
              </a:rPr>
              <a:t>THANK YOU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38500" y="3429000"/>
            <a:ext cx="5715000" cy="476250"/>
          </a:xfrm>
          <a:prstGeom prst="roundRect">
            <a:avLst>
              <a:gd name="adj" fmla="val 20000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276850" y="3571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Segoe UI"/>
                <a:ea typeface="Microsoft YaHei"/>
                <a:cs typeface="Segoe UI"/>
              </a:rPr>
              <a:t>校园搭子推荐系统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65128" y="4140518"/>
            <a:ext cx="36617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基于MBTI心理特质与微观消费特征的智能匹配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81500" y="4572000"/>
            <a:ext cx="34290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80622" y="4775835"/>
            <a:ext cx="22307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机器学习课程大作业 | 2026.06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70349" y="6260306"/>
            <a:ext cx="18513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Questions and Discussion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398615" y="65541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