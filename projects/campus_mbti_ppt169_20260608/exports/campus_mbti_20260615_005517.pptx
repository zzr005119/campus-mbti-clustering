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32b0fac76fbbc85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a31bda7a7a04288.png"/>
  <Relationship Id="rId3" Type="http://schemas.openxmlformats.org/officeDocument/2006/relationships/image" Target="../media/image_9f4512e8b2d105d0.pn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c80496465971bde.pn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f17f9fe9698542d.png"/>
  <Relationship Id="rId3" Type="http://schemas.openxmlformats.org/officeDocument/2006/relationships/image" Target="../media/image_732b0fac76fbbc85.png"/>
  <Relationship Id="rId4" Type="http://schemas.openxmlformats.org/officeDocument/2006/relationships/image" Target="../media/image_fedb574bd57bac2f.png"/>
  <Relationship Id="rId5" Type="http://schemas.openxmlformats.org/officeDocument/2006/relationships/image" Target="../media/image_a09b9543014f471e.png"/>
  <Relationship Id="rId6" Type="http://schemas.openxmlformats.org/officeDocument/2006/relationships/image" Target="../media/image_da81bcaf389236cf.png"/>
  <Relationship Id="rId7" Type="http://schemas.openxmlformats.org/officeDocument/2006/relationships/image" Target="../media/image_4c80496465971bde.png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436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429500" y="-666750"/>
            <a:ext cx="4191000" cy="4191000"/>
          </a:xfrm>
          <a:prstGeom prst="ellipse">
            <a:avLst/>
          </a:prstGeom>
          <a:solidFill>
            <a:srgbClr val="FF6B8A">
              <a:alpha val="2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572500" y="476250"/>
            <a:ext cx="2857500" cy="2857500"/>
          </a:xfrm>
          <a:prstGeom prst="ellipse">
            <a:avLst/>
          </a:prstGeom>
          <a:noFill/>
          <a:ln w="19050">
            <a:solidFill>
              <a:srgbClr val="FFD93D">
                <a:alpha val="30000"/>
              </a:srgbClr>
            </a:solidFill>
          </a:ln>
        </p:spPr>
      </p:sp>
      <p:sp>
        <p:nvSpPr>
          <p:cNvPr id="5" name="Polygon 5"/>
          <p:cNvSpPr/>
          <p:nvPr/>
        </p:nvSpPr>
        <p:spPr>
          <a:xfrm>
            <a:off x="-952500" y="5715000"/>
            <a:ext cx="2857500" cy="1143000"/>
          </a:xfrm>
          <a:custGeom>
            <a:avLst/>
            <a:gdLst/>
            <a:ahLst/>
            <a:cxnLst/>
            <a:rect l="l" t="t" r="r" b="b"/>
            <a:pathLst>
              <a:path w="2857500" h="1143000">
                <a:moveTo>
                  <a:pt x="1428750" y="0"/>
                </a:moveTo>
                <a:lnTo>
                  <a:pt x="2857500" y="1143000"/>
                </a:lnTo>
                <a:lnTo>
                  <a:pt x="0" y="1143000"/>
                </a:lnTo>
                <a:close/>
              </a:path>
            </a:pathLst>
          </a:custGeom>
          <a:solidFill>
            <a:srgbClr val="00D2D3">
              <a:alpha val="20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1428750" y="5238750"/>
            <a:ext cx="2857500" cy="1619250"/>
          </a:xfrm>
          <a:custGeom>
            <a:avLst/>
            <a:gdLst/>
            <a:ahLst/>
            <a:cxnLst/>
            <a:rect l="l" t="t" r="r" b="b"/>
            <a:pathLst>
              <a:path w="2857500" h="1619250">
                <a:moveTo>
                  <a:pt x="1428750" y="0"/>
                </a:moveTo>
                <a:lnTo>
                  <a:pt x="2857500" y="1619250"/>
                </a:lnTo>
                <a:lnTo>
                  <a:pt x="0" y="1619250"/>
                </a:lnTo>
                <a:close/>
              </a:path>
            </a:pathLst>
          </a:custGeom>
          <a:solidFill>
            <a:srgbClr val="A29BFE">
              <a:alpha val="15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476250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FFD93D">
              <a:alpha val="3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1524000" y="5048250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FF6B8A">
              <a:alpha val="25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0363200" y="5410200"/>
            <a:ext cx="228600" cy="228600"/>
          </a:xfrm>
          <a:prstGeom prst="ellipse">
            <a:avLst/>
          </a:prstGeom>
          <a:solidFill>
            <a:srgbClr val="00D2D3">
              <a:alpha val="50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706100" y="5657850"/>
            <a:ext cx="114300" cy="114300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</p:sp>
      <p:sp>
        <p:nvSpPr>
          <p:cNvPr id="11" name="Polyline 11"/>
          <p:cNvSpPr/>
          <p:nvPr/>
        </p:nvSpPr>
        <p:spPr>
          <a:xfrm>
            <a:off x="0" y="1238250"/>
            <a:ext cx="2857500" cy="190500"/>
          </a:xfrm>
          <a:custGeom>
            <a:avLst/>
            <a:gdLst/>
            <a:ahLst/>
            <a:cxnLst/>
            <a:rect l="l" t="t" r="r" b="b"/>
            <a:pathLst>
              <a:path w="2857500" h="190500">
                <a:moveTo>
                  <a:pt x="0" y="190500"/>
                </a:moveTo>
                <a:lnTo>
                  <a:pt x="285750" y="0"/>
                </a:lnTo>
                <a:lnTo>
                  <a:pt x="571500" y="190500"/>
                </a:lnTo>
                <a:lnTo>
                  <a:pt x="857250" y="0"/>
                </a:lnTo>
                <a:lnTo>
                  <a:pt x="1143000" y="190500"/>
                </a:lnTo>
                <a:lnTo>
                  <a:pt x="1428750" y="0"/>
                </a:lnTo>
                <a:lnTo>
                  <a:pt x="1714500" y="190500"/>
                </a:lnTo>
                <a:lnTo>
                  <a:pt x="2000250" y="0"/>
                </a:lnTo>
                <a:lnTo>
                  <a:pt x="2286000" y="190500"/>
                </a:lnTo>
                <a:lnTo>
                  <a:pt x="2571750" y="0"/>
                </a:lnTo>
                <a:lnTo>
                  <a:pt x="2857500" y="190500"/>
                </a:lnTo>
              </a:path>
            </a:pathLst>
          </a:custGeom>
          <a:noFill/>
          <a:ln w="19050">
            <a:solidFill>
              <a:srgbClr val="B2BEC3">
                <a:alpha val="15000"/>
              </a:srgbClr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62000" y="1714500"/>
            <a:ext cx="7620000" cy="1524000"/>
          </a:xfrm>
          <a:prstGeom prst="roundRect">
            <a:avLst>
              <a:gd name="adj" fmla="val 10000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687955" y="2104072"/>
            <a:ext cx="3768090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校园搭子推荐系统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37698" y="2790825"/>
            <a:ext cx="40686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0F3"/>
                </a:solidFill>
                <a:latin typeface="Segoe UI"/>
                <a:ea typeface="Microsoft YaHei"/>
                <a:cs typeface="Segoe UI"/>
              </a:rPr>
              <a:t>基于MBTI心理特质与微观消费特征的智能匹配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3429000"/>
            <a:ext cx="5715000" cy="47625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762000" y="3524250"/>
            <a:ext cx="3619500" cy="47625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44855" y="3854768"/>
            <a:ext cx="27886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机器学习 · 深度学习 · 课程大作业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7712" y="4212431"/>
            <a:ext cx="37565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K-Means Clustering | Random Forest | Flask Web App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6760" y="5966460"/>
            <a:ext cx="15666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赵子荣 李海东 章振豪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8665" y="6220778"/>
            <a:ext cx="6917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2026年6月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FF6B8A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33425" y="30956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CONTENTS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6760" y="670560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汇报提纲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1333500"/>
            <a:ext cx="5048250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 w="19050">
            <a:solidFill>
              <a:srgbClr val="FF6B8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82040" y="1672590"/>
            <a:ext cx="66598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dirty="0">
                <a:solidFill>
                  <a:srgbClr val="FF6B8A">
                    <a:alphaMod val="25000"/>
                  </a:srgbClr>
                </a:solidFill>
                <a:latin typeface="Arial Black"/>
                <a:ea typeface="Microsoft YaHei"/>
                <a:cs typeface="Arial Black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72640" y="18059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项目背景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81212" y="2212181"/>
            <a:ext cx="21738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问题动机 / 数据采集 / 研究意义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381750" y="1333500"/>
            <a:ext cx="5048250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 w="19050">
            <a:solidFill>
              <a:srgbClr val="FFD93D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701790" y="1672590"/>
            <a:ext cx="82600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dirty="0">
                <a:solidFill>
                  <a:srgbClr val="FFD93D">
                    <a:alphaMod val="25000"/>
                  </a:srgbClr>
                </a:solidFill>
                <a:latin typeface="Arial Black"/>
                <a:ea typeface="Microsoft YaHei"/>
                <a:cs typeface="Arial Black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92390" y="18059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技术路线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00962" y="2212181"/>
            <a:ext cx="24363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K-Means 聚类 / RF 分类 / 推荐系统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619500"/>
            <a:ext cx="5048250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 w="19050">
            <a:solidFill>
              <a:srgbClr val="00D2D3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082040" y="3958590"/>
            <a:ext cx="82600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dirty="0">
                <a:solidFill>
                  <a:srgbClr val="00D2D3">
                    <a:alphaMod val="25000"/>
                  </a:srgbClr>
                </a:solidFill>
                <a:latin typeface="Arial Black"/>
                <a:ea typeface="Microsoft YaHei"/>
                <a:cs typeface="Arial Black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72640" y="40919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核心成果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81212" y="4498181"/>
            <a:ext cx="22413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聚类画像 / MBTI 预测 / 指标对比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381750" y="3619500"/>
            <a:ext cx="5048250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 w="19050">
            <a:solidFill>
              <a:srgbClr val="A29BFE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701790" y="3958590"/>
            <a:ext cx="82600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dirty="0">
                <a:solidFill>
                  <a:srgbClr val="A29BFE">
                    <a:alphaMod val="25000"/>
                  </a:srgbClr>
                </a:solidFill>
                <a:latin typeface="Arial Black"/>
                <a:ea typeface="Microsoft YaHei"/>
                <a:cs typeface="Arial Black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92390" y="40919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总结展望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00962" y="4498181"/>
            <a:ext cx="20013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不足反思 / 深度学习扩展方向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02 / 15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381000" y="1905000"/>
            <a:ext cx="3048000" cy="3048000"/>
          </a:xfrm>
          <a:prstGeom prst="ellipse">
            <a:avLst/>
          </a:prstGeom>
          <a:solidFill>
            <a:srgbClr val="FF6B8A">
              <a:alpha val="12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62000" y="2286000"/>
            <a:ext cx="2286000" cy="2286000"/>
          </a:xfrm>
          <a:prstGeom prst="ellipse">
            <a:avLst/>
          </a:prstGeom>
          <a:noFill/>
          <a:ln w="19050">
            <a:solidFill>
              <a:srgbClr val="FF6B8A">
                <a:alpha val="25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1143000" y="2667000"/>
            <a:ext cx="1524000" cy="1524000"/>
          </a:xfrm>
          <a:prstGeom prst="ellipse">
            <a:avLst/>
          </a:prstGeom>
          <a:noFill/>
          <a:ln w="14288">
            <a:solidFill>
              <a:srgbClr val="FF6B8A">
                <a:alpha val="15000"/>
              </a:srgbClr>
            </a:solidFill>
            <a:custDash>
              <a:ds d="533333" sp="400000"/>
            </a:custDash>
          </a:ln>
        </p:spPr>
      </p:sp>
      <p:sp>
        <p:nvSpPr>
          <p:cNvPr id="11" name="Rectangle 11"/>
          <p:cNvSpPr/>
          <p:nvPr/>
        </p:nvSpPr>
        <p:spPr>
          <a:xfrm>
            <a:off x="4095750" y="2476500"/>
            <a:ext cx="952500" cy="952500"/>
          </a:xfrm>
          <a:prstGeom prst="roundRect">
            <a:avLst>
              <a:gd name="adj" fmla="val 8000"/>
            </a:avLst>
          </a:prstGeom>
          <a:solidFill>
            <a:srgbClr val="FF6B8A">
              <a:alpha val="15000"/>
            </a:srgbClr>
          </a:solidFill>
          <a:ln>
            <a:noFill/>
          </a:ln>
        </p:spPr>
      </p:sp>
      <p:sp>
        <p:nvSpPr>
          <p:cNvPr id="12" name="Polygon 12"/>
          <p:cNvSpPr/>
          <p:nvPr/>
        </p:nvSpPr>
        <p:spPr>
          <a:xfrm>
            <a:off x="4857750" y="2476500"/>
            <a:ext cx="762000" cy="571500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381000" y="0"/>
                </a:moveTo>
                <a:lnTo>
                  <a:pt x="762000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FF6B8A">
              <a:alpha val="12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5905500" y="2667000"/>
            <a:ext cx="571500" cy="571500"/>
          </a:xfrm>
          <a:prstGeom prst="ellipse">
            <a:avLst/>
          </a:prstGeom>
          <a:solidFill>
            <a:srgbClr val="FFD93D">
              <a:alpha val="20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141470" y="2722245"/>
            <a:ext cx="541115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54805" y="3502342"/>
            <a:ext cx="159258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项目背景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73855" y="4045268"/>
            <a:ext cx="22755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BACKGROUND &amp; MOTIVATION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191000" y="4381500"/>
            <a:ext cx="1905000" cy="38100"/>
          </a:xfrm>
          <a:prstGeom prst="rect">
            <a:avLst/>
          </a:prstGeom>
          <a:solidFill>
            <a:srgbClr val="FF6B8A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191250" y="4381500"/>
            <a:ext cx="762000" cy="38100"/>
          </a:xfrm>
          <a:prstGeom prst="rect">
            <a:avLst/>
          </a:prstGeom>
          <a:solidFill>
            <a:srgbClr val="2D3436">
              <a:alpha val="15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03 / 15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22059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项目背景与核心问题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1143000"/>
            <a:ext cx="5524500" cy="2476500"/>
          </a:xfrm>
          <a:prstGeom prst="roundRect">
            <a:avLst>
              <a:gd name="adj" fmla="val 5385"/>
            </a:avLst>
          </a:prstGeom>
          <a:solidFill>
            <a:srgbClr val="FFF0F3"/>
          </a:solidFill>
          <a:ln w="19050">
            <a:solidFill>
              <a:srgbClr val="FF6B8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33450" y="136207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核心命题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7260" y="1727835"/>
            <a:ext cx="14946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消费行为 + 性格特质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2029778"/>
            <a:ext cx="2126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是大学生社交匹配的两大核心维度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00" y="2381250"/>
            <a:ext cx="4381500" cy="9525"/>
          </a:xfrm>
          <a:prstGeom prst="rect">
            <a:avLst/>
          </a:prstGeom>
          <a:solidFill>
            <a:srgbClr val="DFE6E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38212" y="2593181"/>
            <a:ext cx="27139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6B8A"/>
                </a:solidFill>
                <a:latin typeface="Segoe UI"/>
                <a:ea typeface="Microsoft YaHei"/>
                <a:cs typeface="Segoe UI"/>
              </a:rPr>
              <a:t>Q1. 能否用消费数据自动识别群体类型？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8212" y="2878931"/>
            <a:ext cx="20238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6B8A"/>
                </a:solidFill>
                <a:latin typeface="Segoe UI"/>
                <a:ea typeface="Microsoft YaHei"/>
                <a:cs typeface="Segoe UI"/>
              </a:rPr>
              <a:t>Q2. 能否预测MBTI人格四维？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8212" y="3164681"/>
            <a:ext cx="23013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6B8A"/>
                </a:solidFill>
                <a:latin typeface="Segoe UI"/>
                <a:ea typeface="Microsoft YaHei"/>
                <a:cs typeface="Segoe UI"/>
              </a:rPr>
              <a:t>Q3. 能否实现个性化的搭子推荐？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381750" y="1143000"/>
            <a:ext cx="5238750" cy="2476500"/>
          </a:xfrm>
          <a:prstGeom prst="roundRect">
            <a:avLst>
              <a:gd name="adj" fmla="val 5385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281988" y="1362075"/>
            <a:ext cx="1438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三阶段研究目标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667500" y="1857375"/>
            <a:ext cx="4667250" cy="523875"/>
          </a:xfrm>
          <a:prstGeom prst="roundRect">
            <a:avLst>
              <a:gd name="adj" fmla="val 14545"/>
            </a:avLst>
          </a:prstGeom>
          <a:noFill/>
          <a:ln w="9525">
            <a:solidFill>
              <a:srgbClr val="FF6B8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667500" y="1857375"/>
            <a:ext cx="57150" cy="523875"/>
          </a:xfrm>
          <a:prstGeom prst="rect">
            <a:avLst/>
          </a:prstGeom>
          <a:solidFill>
            <a:srgbClr val="FF6B8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892290" y="1953578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Phase 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05712" y="194548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无监督聚类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08570" y="216027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消费群体画像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667500" y="2524125"/>
            <a:ext cx="4667250" cy="523875"/>
          </a:xfrm>
          <a:prstGeom prst="roundRect">
            <a:avLst>
              <a:gd name="adj" fmla="val 14545"/>
            </a:avLst>
          </a:prstGeom>
          <a:noFill/>
          <a:ln w="9525">
            <a:solidFill>
              <a:srgbClr val="00D2D3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667500" y="2524125"/>
            <a:ext cx="57150" cy="523875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92290" y="2620328"/>
            <a:ext cx="5307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Phase 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05712" y="26122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有监督分类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08570" y="2827020"/>
            <a:ext cx="760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MBTI性格预测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667500" y="3190875"/>
            <a:ext cx="4667250" cy="523875"/>
          </a:xfrm>
          <a:prstGeom prst="roundRect">
            <a:avLst>
              <a:gd name="adj" fmla="val 14545"/>
            </a:avLst>
          </a:prstGeom>
          <a:noFill/>
          <a:ln w="9525">
            <a:solidFill>
              <a:srgbClr val="A29BFE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667500" y="3190875"/>
            <a:ext cx="57150" cy="523875"/>
          </a:xfrm>
          <a:prstGeom prst="rect">
            <a:avLst/>
          </a:prstGeom>
          <a:solidFill>
            <a:srgbClr val="A29BFE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92290" y="3287078"/>
            <a:ext cx="5307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Phase 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05712" y="327898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推荐系统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608570" y="349377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搭子匹配引擎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40005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FF6B8A">
              <a:alpha val="8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718810" y="4188142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研究意义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06343" y="4477702"/>
            <a:ext cx="51793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填补消费-MBTI定量关联研究空白 | 小样本ML教学示范 | 可直接落地的校园社交应用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5143500"/>
            <a:ext cx="11049000" cy="1143000"/>
          </a:xfrm>
          <a:prstGeom prst="roundRect">
            <a:avLst>
              <a:gd name="adj" fmla="val 11667"/>
            </a:avLst>
          </a:prstGeom>
          <a:solidFill>
            <a:srgbClr val="FFF0F3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824776" y="5339239"/>
            <a:ext cx="54244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关键词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833807" y="5736431"/>
            <a:ext cx="65243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K-Means聚类 · 随机森林 · MBTI人格预测 · 留一法交叉验证 · SMOTENC · Bootstrap · 搭子推荐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04 / 15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14859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数据采集概览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9390" y="534352"/>
            <a:ext cx="22249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62 份有效样本 · 5 大模块 · 19 道题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143000"/>
            <a:ext cx="2381250" cy="952500"/>
          </a:xfrm>
          <a:prstGeom prst="roundRect">
            <a:avLst>
              <a:gd name="adj" fmla="val 14000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478185" y="1215390"/>
            <a:ext cx="56788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69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8755" y="17726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0F3"/>
                </a:solidFill>
                <a:latin typeface="Segoe UI"/>
                <a:ea typeface="Microsoft YaHei"/>
                <a:cs typeface="Segoe UI"/>
              </a:rPr>
              <a:t>原始问卷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333750" y="1143000"/>
            <a:ext cx="2381250" cy="952500"/>
          </a:xfrm>
          <a:prstGeom prst="roundRect">
            <a:avLst>
              <a:gd name="adj" fmla="val 14000"/>
            </a:avLst>
          </a:prstGeom>
          <a:solidFill>
            <a:srgbClr val="00D2D3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240435" y="1215390"/>
            <a:ext cx="56788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62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31005" y="17726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0F3"/>
                </a:solidFill>
                <a:latin typeface="Segoe UI"/>
                <a:ea typeface="Microsoft YaHei"/>
                <a:cs typeface="Segoe UI"/>
              </a:rPr>
              <a:t>有效样本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096000" y="1143000"/>
            <a:ext cx="2381250" cy="952500"/>
          </a:xfrm>
          <a:prstGeom prst="roundRect">
            <a:avLst>
              <a:gd name="adj" fmla="val 14000"/>
            </a:avLst>
          </a:prstGeom>
          <a:solidFill>
            <a:srgbClr val="A29BF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057692" y="1215390"/>
            <a:ext cx="45786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19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63264" y="1772602"/>
            <a:ext cx="4467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0F3"/>
                </a:solidFill>
                <a:latin typeface="Segoe UI"/>
                <a:ea typeface="Microsoft YaHei"/>
                <a:cs typeface="Segoe UI"/>
              </a:rPr>
              <a:t>题目数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858250" y="1143000"/>
            <a:ext cx="2381250" cy="952500"/>
          </a:xfrm>
          <a:prstGeom prst="roundRect">
            <a:avLst>
              <a:gd name="adj" fmla="val 14000"/>
            </a:avLst>
          </a:prstGeom>
          <a:solidFill>
            <a:srgbClr val="FFD93D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885950" y="1215390"/>
            <a:ext cx="32585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95522" y="1772602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模块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3902" y="2465546"/>
            <a:ext cx="117633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问卷五大模块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2952750"/>
            <a:ext cx="3524250" cy="552450"/>
          </a:xfrm>
          <a:prstGeom prst="roundRect">
            <a:avLst>
              <a:gd name="adj" fmla="val 17241"/>
            </a:avLst>
          </a:prstGeom>
          <a:solidFill>
            <a:srgbClr val="FFF0F3"/>
          </a:solidFill>
          <a:ln w="9525">
            <a:solidFill>
              <a:srgbClr val="FDCB6E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85838" y="30599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基础信息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8695" y="3274695"/>
            <a:ext cx="20211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性别/年级/生活费来源/月生活费区间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667125"/>
            <a:ext cx="3524250" cy="552450"/>
          </a:xfrm>
          <a:prstGeom prst="roundRect">
            <a:avLst>
              <a:gd name="adj" fmla="val 17241"/>
            </a:avLst>
          </a:prstGeom>
          <a:solidFill>
            <a:srgbClr val="FFF0F3"/>
          </a:solidFill>
          <a:ln w="9525">
            <a:solidFill>
              <a:srgbClr val="FDCB6E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85838" y="377428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细分消费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8695" y="3989070"/>
            <a:ext cx="2003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餐饮/社交/服饰/学习/数码 月度支出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4381500"/>
            <a:ext cx="3524250" cy="552450"/>
          </a:xfrm>
          <a:prstGeom prst="roundRect">
            <a:avLst>
              <a:gd name="adj" fmla="val 17241"/>
            </a:avLst>
          </a:prstGeom>
          <a:solidFill>
            <a:srgbClr val="FFF0F3"/>
          </a:solidFill>
          <a:ln w="9525">
            <a:solidFill>
              <a:srgbClr val="FDCB6E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85838" y="44886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消费行为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88695" y="4703445"/>
            <a:ext cx="18350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决策习惯/看重因素/兴趣投入意愿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572000" y="2952750"/>
            <a:ext cx="3524250" cy="552450"/>
          </a:xfrm>
          <a:prstGeom prst="roundRect">
            <a:avLst>
              <a:gd name="adj" fmla="val 17241"/>
            </a:avLst>
          </a:prstGeom>
          <a:solidFill>
            <a:srgbClr val="FFF0F3"/>
          </a:solidFill>
          <a:ln w="9525">
            <a:solidFill>
              <a:srgbClr val="FDCB6E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4795838" y="3059906"/>
            <a:ext cx="6511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MBTI自测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98695" y="3274695"/>
            <a:ext cx="16490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E/I S/N T/F J/P 四维快速评估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572000" y="3667125"/>
            <a:ext cx="3524250" cy="552450"/>
          </a:xfrm>
          <a:prstGeom prst="roundRect">
            <a:avLst>
              <a:gd name="adj" fmla="val 17241"/>
            </a:avLst>
          </a:prstGeom>
          <a:solidFill>
            <a:srgbClr val="FFF0F3"/>
          </a:solidFill>
          <a:ln w="9525">
            <a:solidFill>
              <a:srgbClr val="FDCB6E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795838" y="377428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社交偏好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798695" y="3989070"/>
            <a:ext cx="1595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交友偏好/搭子态度/结伴场景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382000" y="2667000"/>
            <a:ext cx="3238500" cy="2381250"/>
          </a:xfrm>
          <a:prstGeom prst="roundRect">
            <a:avLst>
              <a:gd name="adj" fmla="val 5600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624060" y="2902268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数据亮点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654415" y="331565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覆盖全国多所高校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654415" y="36204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男女比例均衡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654415" y="392525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年级跨大一到研究生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654415" y="4230052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月生活费覆盖完整区间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654415" y="453485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消费维度细分到具体品类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654415" y="4839652"/>
            <a:ext cx="1874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删除填写&lt;30s及全同无效样本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05 / 15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05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381000" y="1905000"/>
            <a:ext cx="3048000" cy="30480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62000" y="2286000"/>
            <a:ext cx="2286000" cy="2286000"/>
          </a:xfrm>
          <a:prstGeom prst="ellipse">
            <a:avLst/>
          </a:prstGeom>
          <a:noFill/>
          <a:ln w="19050">
            <a:solidFill>
              <a:srgbClr val="FFD93D">
                <a:alpha val="25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1143000" y="2667000"/>
            <a:ext cx="1524000" cy="1524000"/>
          </a:xfrm>
          <a:prstGeom prst="ellipse">
            <a:avLst/>
          </a:prstGeom>
          <a:noFill/>
          <a:ln w="14288">
            <a:solidFill>
              <a:srgbClr val="FFD93D">
                <a:alpha val="15000"/>
              </a:srgbClr>
            </a:solidFill>
            <a:custDash>
              <a:ds d="533333" sp="400000"/>
            </a:custDash>
          </a:ln>
        </p:spPr>
      </p:sp>
      <p:sp>
        <p:nvSpPr>
          <p:cNvPr id="11" name="Rectangle 11"/>
          <p:cNvSpPr/>
          <p:nvPr/>
        </p:nvSpPr>
        <p:spPr>
          <a:xfrm>
            <a:off x="4095750" y="2476500"/>
            <a:ext cx="952500" cy="952500"/>
          </a:xfrm>
          <a:prstGeom prst="roundRect">
            <a:avLst>
              <a:gd name="adj" fmla="val 8000"/>
            </a:avLst>
          </a:prstGeom>
          <a:solidFill>
            <a:srgbClr val="FFD93D">
              <a:alpha val="15000"/>
            </a:srgbClr>
          </a:solidFill>
          <a:ln>
            <a:noFill/>
          </a:ln>
        </p:spPr>
      </p:sp>
      <p:sp>
        <p:nvSpPr>
          <p:cNvPr id="12" name="Polygon 12"/>
          <p:cNvSpPr/>
          <p:nvPr/>
        </p:nvSpPr>
        <p:spPr>
          <a:xfrm>
            <a:off x="4857750" y="2476500"/>
            <a:ext cx="762000" cy="571500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381000" y="0"/>
                </a:moveTo>
                <a:lnTo>
                  <a:pt x="762000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FFD93D">
              <a:alpha val="12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5905500" y="2667000"/>
            <a:ext cx="571500" cy="571500"/>
          </a:xfrm>
          <a:prstGeom prst="ellipse">
            <a:avLst/>
          </a:prstGeom>
          <a:solidFill>
            <a:srgbClr val="FFD93D">
              <a:alpha val="20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141470" y="2722245"/>
            <a:ext cx="67113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54805" y="3502342"/>
            <a:ext cx="159258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技术路线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73855" y="4045268"/>
            <a:ext cx="17625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TECHNICAL APPROACH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191000" y="4381500"/>
            <a:ext cx="1905000" cy="3810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191250" y="4381500"/>
            <a:ext cx="762000" cy="38100"/>
          </a:xfrm>
          <a:prstGeom prst="rect">
            <a:avLst/>
          </a:prstGeom>
          <a:solidFill>
            <a:srgbClr val="2D3436">
              <a:alpha val="15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06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三阶段技术路线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41133" y="534352"/>
            <a:ext cx="42832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K-Means Clustering → Random Forest → Recommendation System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143000"/>
            <a:ext cx="3238500" cy="4191000"/>
          </a:xfrm>
          <a:prstGeom prst="roundRect">
            <a:avLst>
              <a:gd name="adj" fmla="val 4706"/>
            </a:avLst>
          </a:prstGeom>
          <a:solidFill>
            <a:srgbClr val="FFF0F3"/>
          </a:solidFill>
          <a:ln w="19050">
            <a:solidFill>
              <a:srgbClr val="FF6B8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809625" y="1381125"/>
            <a:ext cx="523875" cy="523875"/>
          </a:xfrm>
          <a:prstGeom prst="roundRect">
            <a:avLst>
              <a:gd name="adj" fmla="val 21818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41927" y="1520190"/>
            <a:ext cx="2497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4950" y="1552575"/>
            <a:ext cx="1038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无监督聚类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09625" y="2047875"/>
            <a:ext cx="2667000" cy="1905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96290" y="2267902"/>
            <a:ext cx="11958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K-Means 聚类算法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6290" y="2601278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肘部法则 + 轮廓系数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6290" y="2934652"/>
            <a:ext cx="999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最优聚类数 K=4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6290" y="3268028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识别四类消费群体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6290" y="3601402"/>
            <a:ext cx="15318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产出：雷达/热力图/PCA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000500" y="1143000"/>
            <a:ext cx="3238500" cy="4191000"/>
          </a:xfrm>
          <a:prstGeom prst="roundRect">
            <a:avLst>
              <a:gd name="adj" fmla="val 4706"/>
            </a:avLst>
          </a:prstGeom>
          <a:solidFill>
            <a:srgbClr val="FFF0F3"/>
          </a:solidFill>
          <a:ln w="19050">
            <a:solidFill>
              <a:srgbClr val="00D2D3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4238625" y="1381125"/>
            <a:ext cx="523875" cy="523875"/>
          </a:xfrm>
          <a:prstGeom prst="roundRect">
            <a:avLst>
              <a:gd name="adj" fmla="val 21818"/>
            </a:avLst>
          </a:prstGeom>
          <a:solidFill>
            <a:srgbClr val="00D2D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340924" y="152019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33950" y="1552575"/>
            <a:ext cx="1038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有监督分类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238625" y="2047875"/>
            <a:ext cx="2667000" cy="1905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225290" y="2267902"/>
            <a:ext cx="14828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Random Forest 分类器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225290" y="2601278"/>
            <a:ext cx="12098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LOOCV 留一法验证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225290" y="2934652"/>
            <a:ext cx="10838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SMOTENC 过采样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225290" y="3268028"/>
            <a:ext cx="10838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4维独立分类模型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25290" y="3601402"/>
            <a:ext cx="1545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Bootstrap 95% CI + AUC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429500" y="1143000"/>
            <a:ext cx="3238500" cy="4191000"/>
          </a:xfrm>
          <a:prstGeom prst="roundRect">
            <a:avLst>
              <a:gd name="adj" fmla="val 4706"/>
            </a:avLst>
          </a:prstGeom>
          <a:solidFill>
            <a:srgbClr val="FFF0F3"/>
          </a:solidFill>
          <a:ln w="19050">
            <a:solidFill>
              <a:srgbClr val="A29BFE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7667625" y="1381125"/>
            <a:ext cx="523875" cy="523875"/>
          </a:xfrm>
          <a:prstGeom prst="roundRect">
            <a:avLst>
              <a:gd name="adj" fmla="val 21818"/>
            </a:avLst>
          </a:prstGeom>
          <a:solidFill>
            <a:srgbClr val="A29BFE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769924" y="152019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2950" y="155257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推荐系统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67625" y="2047875"/>
            <a:ext cx="2667000" cy="1905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654290" y="2267902"/>
            <a:ext cx="1237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Flask Web 后端 API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654290" y="2601278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浅粉孟菲斯前端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654290" y="2934652"/>
            <a:ext cx="11958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Cosine 相似度匹配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54290" y="3268028"/>
            <a:ext cx="13288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MBTI互补 + 预算匹配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654290" y="3601402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TOP-5 个性化搭子推荐</a:t>
            </a:r>
          </a:p>
        </p:txBody>
      </p:sp>
      <p:sp>
        <p:nvSpPr>
          <p:cNvPr id="42" name="Polygon 42"/>
          <p:cNvSpPr/>
          <p:nvPr/>
        </p:nvSpPr>
        <p:spPr>
          <a:xfrm>
            <a:off x="3857625" y="3238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2D3436">
              <a:alpha val="30000"/>
            </a:srgbClr>
          </a:solidFill>
          <a:ln>
            <a:noFill/>
          </a:ln>
        </p:spPr>
      </p:sp>
      <p:sp>
        <p:nvSpPr>
          <p:cNvPr id="43" name="Polygon 43"/>
          <p:cNvSpPr/>
          <p:nvPr/>
        </p:nvSpPr>
        <p:spPr>
          <a:xfrm>
            <a:off x="7286625" y="3238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2D3436">
              <a:alpha val="30000"/>
            </a:srgbClr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571500" y="5715000"/>
            <a:ext cx="11049000" cy="523875"/>
          </a:xfrm>
          <a:prstGeom prst="roundRect">
            <a:avLst>
              <a:gd name="adj" fmla="val 18182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995970" y="5902642"/>
            <a:ext cx="62000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Pipeline: 数据清洗 → 特征工程 → 模型训练 → 交叉验证 → 推理部署 → 前端交互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07 / 15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07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381000" y="1905000"/>
            <a:ext cx="3048000" cy="3048000"/>
          </a:xfrm>
          <a:prstGeom prst="ellipse">
            <a:avLst/>
          </a:prstGeom>
          <a:solidFill>
            <a:srgbClr val="00D2D3">
              <a:alpha val="12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62000" y="2286000"/>
            <a:ext cx="2286000" cy="2286000"/>
          </a:xfrm>
          <a:prstGeom prst="ellipse">
            <a:avLst/>
          </a:prstGeom>
          <a:noFill/>
          <a:ln w="19050">
            <a:solidFill>
              <a:srgbClr val="00D2D3">
                <a:alpha val="25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1143000" y="2667000"/>
            <a:ext cx="1524000" cy="1524000"/>
          </a:xfrm>
          <a:prstGeom prst="ellipse">
            <a:avLst/>
          </a:prstGeom>
          <a:noFill/>
          <a:ln w="14288">
            <a:solidFill>
              <a:srgbClr val="00D2D3">
                <a:alpha val="15000"/>
              </a:srgbClr>
            </a:solidFill>
            <a:custDash>
              <a:ds d="533333" sp="400000"/>
            </a:custDash>
          </a:ln>
        </p:spPr>
      </p:sp>
      <p:sp>
        <p:nvSpPr>
          <p:cNvPr id="11" name="Rectangle 11"/>
          <p:cNvSpPr/>
          <p:nvPr/>
        </p:nvSpPr>
        <p:spPr>
          <a:xfrm>
            <a:off x="4095750" y="2476500"/>
            <a:ext cx="952500" cy="952500"/>
          </a:xfrm>
          <a:prstGeom prst="roundRect">
            <a:avLst>
              <a:gd name="adj" fmla="val 8000"/>
            </a:avLst>
          </a:prstGeom>
          <a:solidFill>
            <a:srgbClr val="00D2D3">
              <a:alpha val="15000"/>
            </a:srgbClr>
          </a:solidFill>
          <a:ln>
            <a:noFill/>
          </a:ln>
        </p:spPr>
      </p:sp>
      <p:sp>
        <p:nvSpPr>
          <p:cNvPr id="12" name="Polygon 12"/>
          <p:cNvSpPr/>
          <p:nvPr/>
        </p:nvSpPr>
        <p:spPr>
          <a:xfrm>
            <a:off x="4857750" y="2476500"/>
            <a:ext cx="762000" cy="571500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381000" y="0"/>
                </a:moveTo>
                <a:lnTo>
                  <a:pt x="762000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00D2D3">
              <a:alpha val="12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5905500" y="2667000"/>
            <a:ext cx="571500" cy="571500"/>
          </a:xfrm>
          <a:prstGeom prst="ellipse">
            <a:avLst/>
          </a:prstGeom>
          <a:solidFill>
            <a:srgbClr val="FFD93D">
              <a:alpha val="20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141470" y="2722245"/>
            <a:ext cx="67113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54805" y="3502342"/>
            <a:ext cx="159258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核心成果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73855" y="4045268"/>
            <a:ext cx="21855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KEY RESULTS &amp; HIGHLIGHTS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191000" y="4381500"/>
            <a:ext cx="1905000" cy="38100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191250" y="4381500"/>
            <a:ext cx="762000" cy="38100"/>
          </a:xfrm>
          <a:prstGeom prst="rect">
            <a:avLst/>
          </a:prstGeom>
          <a:solidFill>
            <a:srgbClr val="2D3436">
              <a:alpha val="15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08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204997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K-Means 聚类结果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02416" y="534352"/>
            <a:ext cx="20219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肘部法则 + 轮廓系数 → 最优 K=4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143000"/>
            <a:ext cx="2524125" cy="1714500"/>
          </a:xfrm>
          <a:prstGeom prst="roundRect">
            <a:avLst>
              <a:gd name="adj" fmla="val 7778"/>
            </a:avLst>
          </a:prstGeom>
          <a:solidFill>
            <a:srgbClr val="FFF0F3"/>
          </a:solidFill>
          <a:ln w="19050">
            <a:solidFill>
              <a:srgbClr val="FF6B8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42950" y="1285875"/>
            <a:ext cx="476250" cy="57150"/>
          </a:xfrm>
          <a:prstGeom prst="roundRect">
            <a:avLst>
              <a:gd name="adj" fmla="val 33333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25805" y="1425892"/>
            <a:ext cx="5473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群体 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1695450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高消费数码型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1520" y="1998345"/>
            <a:ext cx="8929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12人 | 预算 4.08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1520" y="2207895"/>
            <a:ext cx="9709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餐饮3.5 数码3.17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1520" y="2417445"/>
            <a:ext cx="6469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MBTI: XNTP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286125" y="1143000"/>
            <a:ext cx="2524125" cy="1714500"/>
          </a:xfrm>
          <a:prstGeom prst="roundRect">
            <a:avLst>
              <a:gd name="adj" fmla="val 7778"/>
            </a:avLst>
          </a:prstGeom>
          <a:solidFill>
            <a:srgbClr val="FFF0F3"/>
          </a:solidFill>
          <a:ln w="19050">
            <a:solidFill>
              <a:srgbClr val="55EFC4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3457575" y="1285875"/>
            <a:ext cx="476250" cy="57150"/>
          </a:xfrm>
          <a:prstGeom prst="roundRect">
            <a:avLst>
              <a:gd name="adj" fmla="val 33333"/>
            </a:avLst>
          </a:prstGeom>
          <a:solidFill>
            <a:srgbClr val="55EFC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440430" y="1425892"/>
            <a:ext cx="5023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EFC4"/>
                </a:solidFill>
                <a:latin typeface="Arial Black"/>
                <a:ea typeface="Microsoft YaHei"/>
                <a:cs typeface="Arial Black"/>
              </a:rPr>
              <a:t>群体 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38525" y="1695450"/>
            <a:ext cx="1038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节俭生存型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46145" y="1998345"/>
            <a:ext cx="8929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23人 | 预算 2.13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46145" y="220789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各项消费偏低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46145" y="2417445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MBTI: ISFP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000750" y="1143000"/>
            <a:ext cx="2524125" cy="1714500"/>
          </a:xfrm>
          <a:prstGeom prst="roundRect">
            <a:avLst>
              <a:gd name="adj" fmla="val 7778"/>
            </a:avLst>
          </a:prstGeom>
          <a:solidFill>
            <a:srgbClr val="FFF0F3"/>
          </a:solidFill>
          <a:ln w="19050">
            <a:solidFill>
              <a:srgbClr val="FFD93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172200" y="1285875"/>
            <a:ext cx="476250" cy="57150"/>
          </a:xfrm>
          <a:prstGeom prst="roundRect">
            <a:avLst>
              <a:gd name="adj" fmla="val 33333"/>
            </a:avLst>
          </a:prstGeom>
          <a:solidFill>
            <a:srgbClr val="FFD93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155055" y="1425892"/>
            <a:ext cx="5473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群体 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153150" y="1695450"/>
            <a:ext cx="1038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社交体验型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160770" y="1998345"/>
            <a:ext cx="8929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14人 | 预算 3.07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160770" y="2207895"/>
            <a:ext cx="10369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社交2.64 服饰2.21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60770" y="2417445"/>
            <a:ext cx="6469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MBTI: XSFP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715375" y="1143000"/>
            <a:ext cx="2524125" cy="1714500"/>
          </a:xfrm>
          <a:prstGeom prst="roundRect">
            <a:avLst>
              <a:gd name="adj" fmla="val 7778"/>
            </a:avLst>
          </a:prstGeom>
          <a:solidFill>
            <a:srgbClr val="FFF0F3"/>
          </a:solidFill>
          <a:ln w="19050">
            <a:solidFill>
              <a:srgbClr val="A29BFE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8886825" y="1285875"/>
            <a:ext cx="476250" cy="57150"/>
          </a:xfrm>
          <a:prstGeom prst="roundRect">
            <a:avLst>
              <a:gd name="adj" fmla="val 33333"/>
            </a:avLst>
          </a:prstGeom>
          <a:solidFill>
            <a:srgbClr val="A29BFE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869680" y="1425892"/>
            <a:ext cx="5473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群体 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867775" y="1695450"/>
            <a:ext cx="1038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自我提升型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875395" y="199834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13人 | 预算 3.15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875395" y="2207895"/>
            <a:ext cx="10009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学习3.0 兴趣2.38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875395" y="2417445"/>
            <a:ext cx="6469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MBTI: XNFP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3143250"/>
            <a:ext cx="5334000" cy="1809750"/>
          </a:xfrm>
          <a:prstGeom prst="roundRect">
            <a:avLst>
              <a:gd name="adj" fmla="val 7368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2861310" y="3330892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关键发现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40118" y="3704749"/>
            <a:ext cx="17409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节俭生存型 占比最大 (37.1%)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40118" y="3923824"/>
            <a:ext cx="19230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高消费数码型 预算最高 人数最少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0118" y="4142899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自我提升型 学习支出遥遥领先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0118" y="4361974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社交体验型 社交开销远超其他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40118" y="4581049"/>
            <a:ext cx="24170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EFC4"/>
                </a:solidFill>
                <a:latin typeface="Segoe UI"/>
                <a:ea typeface="Microsoft YaHei"/>
                <a:cs typeface="Segoe UI"/>
              </a:rPr>
              <a:t>四类群体间特征差异显著 (轮廓系数最优)</a:t>
            </a:r>
          </a:p>
        </p:txBody>
      </p:sp>
      <p:pic>
        <p:nvPicPr>
          <p:cNvPr id="47" name="Imag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764" y="3238500"/>
            <a:ext cx="2960972" cy="2571750"/>
          </a:xfrm>
          <a:prstGeom prst="rect">
            <a:avLst/>
          </a:prstGeom>
        </p:spPr>
      </p:pic>
      <p:sp>
        <p:nvSpPr>
          <p:cNvPr id="48" name="Rectangle 48"/>
          <p:cNvSpPr/>
          <p:nvPr/>
        </p:nvSpPr>
        <p:spPr>
          <a:xfrm>
            <a:off x="571500" y="5238750"/>
            <a:ext cx="11049000" cy="476250"/>
          </a:xfrm>
          <a:prstGeom prst="roundRect">
            <a:avLst>
              <a:gd name="adj" fmla="val 20000"/>
            </a:avLst>
          </a:prstGeom>
          <a:solidFill>
            <a:srgbClr val="FF6B8A">
              <a:alpha val="8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878568" y="534352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701165" y="55606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消费群体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585811" y="53435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62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463415" y="55606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有效样本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403068" y="534352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7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225665" y="55606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消费维度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820275" y="534352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轮廓系数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954911" y="5560695"/>
            <a:ext cx="5689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最优K验证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09 / 15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09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331012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MBTI 四维预测 — 完整评估看板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22206" y="534352"/>
            <a:ext cx="3702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LOOCV + SMOTENC + Bootstrap 95% CI + Dummy Baseline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143000"/>
            <a:ext cx="7143750" cy="2952750"/>
          </a:xfrm>
          <a:prstGeom prst="roundRect">
            <a:avLst>
              <a:gd name="adj" fmla="val 4516"/>
            </a:avLst>
          </a:prstGeom>
          <a:solidFill>
            <a:srgbClr val="FFF0F3"/>
          </a:solidFill>
          <a:ln w="14288">
            <a:solidFill>
              <a:srgbClr val="FF6B8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36308" y="1291114"/>
            <a:ext cx="105251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综合指标对比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1571625"/>
            <a:ext cx="6762750" cy="266700"/>
          </a:xfrm>
          <a:prstGeom prst="roundRect">
            <a:avLst>
              <a:gd name="adj" fmla="val 21429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2022" y="167306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维度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022" y="1673066"/>
            <a:ext cx="202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Acc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47022" y="1673066"/>
            <a:ext cx="328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95% CI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99522" y="16730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F1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61522" y="1673066"/>
            <a:ext cx="328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95% CI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33022" y="1673066"/>
            <a:ext cx="202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AUC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95022" y="1673066"/>
            <a:ext cx="328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95% CI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7022" y="1673066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Dummy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23772" y="1673066"/>
            <a:ext cx="2959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Delta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1885950"/>
            <a:ext cx="6762750" cy="457200"/>
          </a:xfrm>
          <a:prstGeom prst="roundRect">
            <a:avLst>
              <a:gd name="adj" fmla="val 12500"/>
            </a:avLst>
          </a:prstGeom>
          <a:solidFill>
            <a:srgbClr val="FFF0F3"/>
          </a:solidFill>
          <a:ln w="9525">
            <a:solidFill>
              <a:srgbClr val="DFE6E9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40118" y="2066449"/>
            <a:ext cx="206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E/I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84070" y="207454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44%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46070" y="2074545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[32%,56%]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798570" y="2074545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0.389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60570" y="2074545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[27%,51%]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32070" y="2074545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0.530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894070" y="2074545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[41%,65%]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6070" y="207454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38%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22820" y="207454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Arial Black"/>
                <a:ea typeface="Microsoft YaHei"/>
                <a:cs typeface="Arial Black"/>
              </a:rPr>
              <a:t>+6%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2409825"/>
            <a:ext cx="6762750" cy="457200"/>
          </a:xfrm>
          <a:prstGeom prst="roundRect">
            <a:avLst>
              <a:gd name="adj" fmla="val 12500"/>
            </a:avLst>
          </a:prstGeom>
          <a:solidFill>
            <a:srgbClr val="FFF0F3"/>
          </a:solidFill>
          <a:ln w="9525">
            <a:solidFill>
              <a:srgbClr val="DFE6E9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40118" y="259032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S/N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084070" y="2598420"/>
            <a:ext cx="1908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61%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46070" y="2598420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[48%,74%]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98570" y="2598420"/>
            <a:ext cx="322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0.610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60570" y="2598420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[47%,75%]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132070" y="2598420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0.587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894070" y="2598420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[44%,73%]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56070" y="259842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53%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322820" y="259842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Arial Black"/>
                <a:ea typeface="Microsoft YaHei"/>
                <a:cs typeface="Arial Black"/>
              </a:rPr>
              <a:t>+8%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2000" y="2933700"/>
            <a:ext cx="6762750" cy="457200"/>
          </a:xfrm>
          <a:prstGeom prst="roundRect">
            <a:avLst>
              <a:gd name="adj" fmla="val 12500"/>
            </a:avLst>
          </a:prstGeom>
          <a:solidFill>
            <a:srgbClr val="FFF0F3"/>
          </a:solidFill>
          <a:ln w="9525">
            <a:solidFill>
              <a:srgbClr val="DFE6E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940118" y="3114199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T/F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084070" y="312229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45%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846070" y="3122295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[32%,58%]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798570" y="3122295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0.446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560570" y="3122295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[32%,58%]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32070" y="3122295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0.484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894070" y="3122295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[35%,63%]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656070" y="312229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52%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322820" y="312229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Arial Black"/>
                <a:ea typeface="Microsoft YaHei"/>
                <a:cs typeface="Arial Black"/>
              </a:rPr>
              <a:t>-7%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62000" y="3457575"/>
            <a:ext cx="6762750" cy="457200"/>
          </a:xfrm>
          <a:prstGeom prst="roundRect">
            <a:avLst>
              <a:gd name="adj" fmla="val 12500"/>
            </a:avLst>
          </a:prstGeom>
          <a:noFill/>
          <a:ln w="19050">
            <a:solidFill>
              <a:srgbClr val="55EFC4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940118" y="363807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J/P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084070" y="364617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EFC4"/>
                </a:solidFill>
                <a:latin typeface="Segoe UI"/>
                <a:ea typeface="Microsoft YaHei"/>
                <a:cs typeface="Segoe UI"/>
              </a:rPr>
              <a:t>58%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846070" y="3646170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[45%,71%]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798570" y="3646170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EFC4"/>
                </a:solidFill>
                <a:latin typeface="Segoe UI"/>
                <a:ea typeface="Microsoft YaHei"/>
                <a:cs typeface="Segoe UI"/>
              </a:rPr>
              <a:t>0.580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560570" y="3646170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[45%,71%]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132070" y="3646170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EFC4"/>
                </a:solidFill>
                <a:latin typeface="Segoe UI"/>
                <a:ea typeface="Microsoft YaHei"/>
                <a:cs typeface="Segoe UI"/>
              </a:rPr>
              <a:t>0.647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894070" y="3646170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[53%,76%]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656070" y="364617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48%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322820" y="3646170"/>
            <a:ext cx="2568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EFC4"/>
                </a:solidFill>
                <a:latin typeface="Arial Black"/>
                <a:ea typeface="Microsoft YaHei"/>
                <a:cs typeface="Arial Black"/>
              </a:rPr>
              <a:t>+10%</a:t>
            </a:r>
          </a:p>
        </p:txBody>
      </p:sp>
      <p:sp>
        <p:nvSpPr>
          <p:cNvPr id="64" name="Rectangle 64"/>
          <p:cNvSpPr/>
          <p:nvPr/>
        </p:nvSpPr>
        <p:spPr>
          <a:xfrm>
            <a:off x="7905750" y="1143000"/>
            <a:ext cx="3714750" cy="1428750"/>
          </a:xfrm>
          <a:prstGeom prst="roundRect">
            <a:avLst>
              <a:gd name="adj" fmla="val 9333"/>
            </a:avLst>
          </a:prstGeom>
          <a:solidFill>
            <a:srgbClr val="55EFC4">
              <a:alpha val="8000"/>
            </a:srgbClr>
          </a:solidFill>
          <a:ln w="19050">
            <a:solidFill>
              <a:srgbClr val="55EFC4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9039392" y="1330642"/>
            <a:ext cx="14474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5EFC4"/>
                </a:solidFill>
                <a:latin typeface="Arial Black"/>
                <a:ea typeface="Microsoft YaHei"/>
                <a:cs typeface="Arial Black"/>
              </a:rPr>
              <a:t>BEST PERFORMER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903351" y="1583055"/>
            <a:ext cx="171954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55EFC4"/>
                </a:solidFill>
                <a:latin typeface="Arial Black"/>
                <a:ea typeface="Microsoft YaHei"/>
                <a:cs typeface="Arial Black"/>
              </a:rPr>
              <a:t>J/P 生活风格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801171" y="2029778"/>
            <a:ext cx="19239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AUC=0.647 F1=0.580 Acc=58%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837378" y="2275999"/>
            <a:ext cx="18514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Delta=+10% vs Dummy Baseline</a:t>
            </a:r>
          </a:p>
        </p:txBody>
      </p:sp>
      <p:sp>
        <p:nvSpPr>
          <p:cNvPr id="69" name="Rectangle 69"/>
          <p:cNvSpPr/>
          <p:nvPr/>
        </p:nvSpPr>
        <p:spPr>
          <a:xfrm>
            <a:off x="7905750" y="2762250"/>
            <a:ext cx="3714750" cy="1333500"/>
          </a:xfrm>
          <a:prstGeom prst="roundRect">
            <a:avLst>
              <a:gd name="adj" fmla="val 10000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9427845" y="2966085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关键洞察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131492" y="3276124"/>
            <a:ext cx="15394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J/P维度显著优于随机基线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131492" y="3485674"/>
            <a:ext cx="18514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S/N预测准确率达61%，模型可信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131492" y="3695224"/>
            <a:ext cx="18124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T/F最难预测——情感决策更复杂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131492" y="3904774"/>
            <a:ext cx="1448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E/I受限于仅9份外倾样本</a:t>
            </a:r>
          </a:p>
        </p:txBody>
      </p:sp>
      <p:pic>
        <p:nvPicPr>
          <p:cNvPr id="75" name="Image 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731" y="4286250"/>
            <a:ext cx="3984538" cy="2190750"/>
          </a:xfrm>
          <a:prstGeom prst="rect">
            <a:avLst/>
          </a:prstGeom>
        </p:spPr>
      </p:pic>
      <p:pic>
        <p:nvPicPr>
          <p:cNvPr id="76" name="Image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133" y="4286250"/>
            <a:ext cx="2409235" cy="2190750"/>
          </a:xfrm>
          <a:prstGeom prst="rect">
            <a:avLst/>
          </a:prstGeom>
        </p:spPr>
      </p:pic>
      <p:sp>
        <p:nvSpPr>
          <p:cNvPr id="77" name="TextBox 77"/>
          <p:cNvSpPr txBox="1"/>
          <p:nvPr/>
        </p:nvSpPr>
        <p:spPr>
          <a:xfrm>
            <a:off x="11457527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10 / 15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457527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10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特征重要性分析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56435" y="534352"/>
            <a:ext cx="1867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什么消费特征最能预测MBTI？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pic>
        <p:nvPicPr>
          <p:cNvPr id="12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74" y="1095375"/>
            <a:ext cx="6449652" cy="4714875"/>
          </a:xfrm>
          <a:prstGeom prst="rect">
            <a:avLst/>
          </a:prstGeom>
        </p:spPr>
      </p:pic>
      <p:sp>
        <p:nvSpPr>
          <p:cNvPr id="13" name="Rectangle 13"/>
          <p:cNvSpPr/>
          <p:nvPr/>
        </p:nvSpPr>
        <p:spPr>
          <a:xfrm>
            <a:off x="7096125" y="1095375"/>
            <a:ext cx="4572000" cy="4714875"/>
          </a:xfrm>
          <a:prstGeom prst="roundRect">
            <a:avLst>
              <a:gd name="adj" fmla="val 2917"/>
            </a:avLst>
          </a:prstGeom>
          <a:solidFill>
            <a:srgbClr val="FFF0F3"/>
          </a:solidFill>
          <a:ln w="14288">
            <a:solidFill>
              <a:srgbClr val="A29BFE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568380" y="1283018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消费-人格 映射发现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334250" y="1762125"/>
            <a:ext cx="4095750" cy="857250"/>
          </a:xfrm>
          <a:prstGeom prst="roundRect">
            <a:avLst>
              <a:gd name="adj" fmla="val 11111"/>
            </a:avLst>
          </a:prstGeom>
          <a:noFill/>
          <a:ln w="14288">
            <a:solidFill>
              <a:srgbClr val="FF6B8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7334250" y="1762125"/>
            <a:ext cx="57150" cy="857250"/>
          </a:xfrm>
          <a:prstGeom prst="rect">
            <a:avLst/>
          </a:prstGeom>
          <a:solidFill>
            <a:srgbClr val="FF6B8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558088" y="1878806"/>
            <a:ext cx="32014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E/I 精力恢复 / 信息处理 / 决策标准 / 生活风格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59040" y="2144078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社交娱乐 → 外倾倾向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59040" y="2363152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数码游戏 → 内倾倾向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334250" y="2762250"/>
            <a:ext cx="4095750" cy="857250"/>
          </a:xfrm>
          <a:prstGeom prst="roundRect">
            <a:avLst>
              <a:gd name="adj" fmla="val 11111"/>
            </a:avLst>
          </a:prstGeom>
          <a:noFill/>
          <a:ln w="14288">
            <a:solidFill>
              <a:srgbClr val="00D2D3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7334250" y="2762250"/>
            <a:ext cx="57150" cy="857250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558088" y="2878931"/>
            <a:ext cx="32389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S/N 精力恢复 / 信息处理 / 决策标准 / 生活风格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59040" y="3144202"/>
            <a:ext cx="15878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餐饮伙食 → 信息接收方式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59040" y="3363278"/>
            <a:ext cx="14478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月预算 → 关注细节程度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334250" y="3762375"/>
            <a:ext cx="4095750" cy="857250"/>
          </a:xfrm>
          <a:prstGeom prst="roundRect">
            <a:avLst>
              <a:gd name="adj" fmla="val 11111"/>
            </a:avLst>
          </a:prstGeom>
          <a:noFill/>
          <a:ln w="14288">
            <a:solidFill>
              <a:srgbClr val="FFD93D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334250" y="3762375"/>
            <a:ext cx="57150" cy="85725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558088" y="3879056"/>
            <a:ext cx="32389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T/F 精力恢复 / 信息处理 / 决策标准 / 生活风格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59040" y="4144328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服饰美妆 → 情感决策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59040" y="4363402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决策习惯 → 理性vs感性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334250" y="4762500"/>
            <a:ext cx="4095750" cy="857250"/>
          </a:xfrm>
          <a:prstGeom prst="roundRect">
            <a:avLst>
              <a:gd name="adj" fmla="val 11111"/>
            </a:avLst>
          </a:prstGeom>
          <a:noFill/>
          <a:ln w="14288">
            <a:solidFill>
              <a:srgbClr val="55EFC4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7334250" y="4762500"/>
            <a:ext cx="57150" cy="857250"/>
          </a:xfrm>
          <a:prstGeom prst="rect">
            <a:avLst/>
          </a:prstGeom>
          <a:solidFill>
            <a:srgbClr val="55EFC4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558088" y="4879181"/>
            <a:ext cx="32389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EFC4"/>
                </a:solidFill>
                <a:latin typeface="Arial Black"/>
                <a:ea typeface="Microsoft YaHei"/>
                <a:cs typeface="Arial Black"/>
              </a:rPr>
              <a:t>J/P 精力恢复 / 信息处理 / 决策标准 / 生活风格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0" y="5144452"/>
            <a:ext cx="11678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学习发展 → 计划性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59040" y="5363528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看重因素 → 判断vs感知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334250" y="5286375"/>
            <a:ext cx="4095750" cy="381000"/>
          </a:xfrm>
          <a:prstGeom prst="roundRect">
            <a:avLst>
              <a:gd name="adj" fmla="val 20000"/>
            </a:avLst>
          </a:prstGeom>
          <a:solidFill>
            <a:srgbClr val="FFD93D">
              <a:alpha val="10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178641" y="5430202"/>
            <a:ext cx="24069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6B8A"/>
                </a:solidFill>
                <a:latin typeface="Segoe UI"/>
                <a:ea typeface="Microsoft YaHei"/>
                <a:cs typeface="Segoe UI"/>
              </a:rPr>
              <a:t>核心验证：「看账单猜性格」是可行的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87531" y="6608445"/>
            <a:ext cx="334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11 / 15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87531" y="6608445"/>
            <a:ext cx="334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11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14859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推荐系统架构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32232" y="534352"/>
            <a:ext cx="34921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Flask Backend + HTML/CSS/JS Frontend + ML Models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762000" y="1238250"/>
            <a:ext cx="2286000" cy="666750"/>
          </a:xfrm>
          <a:prstGeom prst="roundRect">
            <a:avLst>
              <a:gd name="adj" fmla="val 20000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548765" y="1405414"/>
            <a:ext cx="7124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用户输入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60528" y="1664970"/>
            <a:ext cx="6889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0F3"/>
                </a:solidFill>
                <a:latin typeface="Segoe UI"/>
                <a:ea typeface="Microsoft YaHei"/>
                <a:cs typeface="Segoe UI"/>
              </a:rPr>
              <a:t>7维消费画像</a:t>
            </a:r>
          </a:p>
        </p:txBody>
      </p:sp>
      <p:sp>
        <p:nvSpPr>
          <p:cNvPr id="15" name="Line 15"/>
          <p:cNvSpPr/>
          <p:nvPr/>
        </p:nvSpPr>
        <p:spPr>
          <a:xfrm>
            <a:off x="3048000" y="1571625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28575">
            <a:solidFill>
              <a:srgbClr val="2D3436">
                <a:alpha val="40000"/>
              </a:srgbClr>
            </a:solidFill>
          </a:ln>
        </p:spPr>
      </p:sp>
      <p:sp>
        <p:nvSpPr>
          <p:cNvPr id="16" name="Polygon 16"/>
          <p:cNvSpPr/>
          <p:nvPr/>
        </p:nvSpPr>
        <p:spPr>
          <a:xfrm>
            <a:off x="3762375" y="1524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2D3436">
              <a:alpha val="40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3905250" y="1047750"/>
            <a:ext cx="2286000" cy="428625"/>
          </a:xfrm>
          <a:prstGeom prst="roundRect">
            <a:avLst>
              <a:gd name="adj" fmla="val 26667"/>
            </a:avLst>
          </a:prstGeom>
          <a:solidFill>
            <a:srgbClr val="00D2D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598908" y="1193006"/>
            <a:ext cx="8986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KMeans 聚类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905250" y="1666875"/>
            <a:ext cx="2286000" cy="428625"/>
          </a:xfrm>
          <a:prstGeom prst="roundRect">
            <a:avLst>
              <a:gd name="adj" fmla="val 26667"/>
            </a:avLst>
          </a:prstGeom>
          <a:solidFill>
            <a:srgbClr val="FFD93D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95158" y="1812131"/>
            <a:ext cx="9061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RF MBTI 预测</a:t>
            </a:r>
          </a:p>
        </p:txBody>
      </p:sp>
      <p:sp>
        <p:nvSpPr>
          <p:cNvPr id="21" name="Line 21"/>
          <p:cNvSpPr/>
          <p:nvPr/>
        </p:nvSpPr>
        <p:spPr>
          <a:xfrm>
            <a:off x="6191250" y="125730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rgbClr val="2D3436">
                <a:alpha val="40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6191250" y="18859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rgbClr val="2D3436">
                <a:alpha val="40000"/>
              </a:srgbClr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953250" y="1047750"/>
            <a:ext cx="4476750" cy="1047750"/>
          </a:xfrm>
          <a:prstGeom prst="roundRect">
            <a:avLst>
              <a:gd name="adj" fmla="val 12727"/>
            </a:avLst>
          </a:prstGeom>
          <a:solidFill>
            <a:srgbClr val="FFF0F3"/>
          </a:solidFill>
          <a:ln w="14288">
            <a:solidFill>
              <a:srgbClr val="A29BFE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696325" y="1251585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综合匹配引擎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143750" y="1571625"/>
            <a:ext cx="9525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227225" y="1720691"/>
            <a:ext cx="7855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40% 消费相似度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286750" y="1571625"/>
            <a:ext cx="9525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416981" y="1720691"/>
            <a:ext cx="692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20% MBTI互补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429750" y="1571625"/>
            <a:ext cx="9525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568232" y="1720691"/>
            <a:ext cx="6755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20% 预算匹配</a:t>
            </a:r>
          </a:p>
        </p:txBody>
      </p:sp>
      <p:sp>
        <p:nvSpPr>
          <p:cNvPr id="31" name="Rectangle 31"/>
          <p:cNvSpPr/>
          <p:nvPr/>
        </p:nvSpPr>
        <p:spPr>
          <a:xfrm>
            <a:off x="10572750" y="1571625"/>
            <a:ext cx="9525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711232" y="1720691"/>
            <a:ext cx="6755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20% 场景契合</a:t>
            </a:r>
          </a:p>
        </p:txBody>
      </p:sp>
      <p:sp>
        <p:nvSpPr>
          <p:cNvPr id="33" name="Line 33"/>
          <p:cNvSpPr/>
          <p:nvPr/>
        </p:nvSpPr>
        <p:spPr>
          <a:xfrm>
            <a:off x="9191625" y="209550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28575">
            <a:solidFill>
              <a:srgbClr val="2D3436">
                <a:alpha val="40000"/>
              </a:srgbClr>
            </a:solidFill>
          </a:ln>
        </p:spPr>
      </p:sp>
      <p:sp>
        <p:nvSpPr>
          <p:cNvPr id="34" name="Polygon 34"/>
          <p:cNvSpPr/>
          <p:nvPr/>
        </p:nvSpPr>
        <p:spPr>
          <a:xfrm>
            <a:off x="9144000" y="27146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2D3436">
              <a:alpha val="40000"/>
            </a:srgbClr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3238500" y="2857500"/>
            <a:ext cx="5715000" cy="762000"/>
          </a:xfrm>
          <a:prstGeom prst="roundRect">
            <a:avLst>
              <a:gd name="adj" fmla="val 20000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722971" y="3044190"/>
            <a:ext cx="27460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TOP-5 最佳匹配搭子推荐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993606" y="3371374"/>
            <a:ext cx="42047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0F3"/>
                </a:solidFill>
                <a:latin typeface="Segoe UI"/>
                <a:ea typeface="Microsoft YaHei"/>
                <a:cs typeface="Segoe UI"/>
              </a:rPr>
              <a:t>Cosine Similarity + MBTI Complement + Budget Match + Scene Match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4095750"/>
            <a:ext cx="10668000" cy="1809750"/>
          </a:xfrm>
          <a:prstGeom prst="roundRect">
            <a:avLst>
              <a:gd name="adj" fmla="val 7368"/>
            </a:avLst>
          </a:prstGeom>
          <a:solidFill>
            <a:srgbClr val="FFF0F3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824776" y="4291489"/>
            <a:ext cx="54244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技术栈</a:t>
            </a:r>
          </a:p>
        </p:txBody>
      </p:sp>
      <p:sp>
        <p:nvSpPr>
          <p:cNvPr id="40" name="Rectangle 40"/>
          <p:cNvSpPr/>
          <p:nvPr/>
        </p:nvSpPr>
        <p:spPr>
          <a:xfrm>
            <a:off x="1143000" y="4667250"/>
            <a:ext cx="1619250" cy="952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FF6B8A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1143000" y="4667250"/>
            <a:ext cx="1619250" cy="38100"/>
          </a:xfrm>
          <a:prstGeom prst="rect">
            <a:avLst/>
          </a:prstGeom>
          <a:solidFill>
            <a:srgbClr val="FF6B8A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750814" y="4879181"/>
            <a:ext cx="4036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Flask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10166" y="5189220"/>
            <a:ext cx="4849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Backend</a:t>
            </a:r>
          </a:p>
        </p:txBody>
      </p:sp>
      <p:sp>
        <p:nvSpPr>
          <p:cNvPr id="44" name="Rectangle 44"/>
          <p:cNvSpPr/>
          <p:nvPr/>
        </p:nvSpPr>
        <p:spPr>
          <a:xfrm>
            <a:off x="3048000" y="4667250"/>
            <a:ext cx="1619250" cy="952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00D2D3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3048000" y="4667250"/>
            <a:ext cx="1619250" cy="38100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3374529" y="4879181"/>
            <a:ext cx="9661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HTML/CSS/JS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582162" y="5189220"/>
            <a:ext cx="5509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Frontend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953000" y="4667250"/>
            <a:ext cx="1619250" cy="952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FFD93D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4953000" y="4667250"/>
            <a:ext cx="1619250" cy="3810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437049" y="4879181"/>
            <a:ext cx="6511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Chart.js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586174" y="5189220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Radar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858000" y="4667250"/>
            <a:ext cx="1619250" cy="952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A29BFE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6858000" y="4667250"/>
            <a:ext cx="1619250" cy="38100"/>
          </a:xfrm>
          <a:prstGeom prst="rect">
            <a:avLst/>
          </a:prstGeom>
          <a:solidFill>
            <a:srgbClr val="A29BFE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214533" y="4879181"/>
            <a:ext cx="9061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scikit-learn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461171" y="5189220"/>
            <a:ext cx="4129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Models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763000" y="4667250"/>
            <a:ext cx="1619250" cy="952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55EFC4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8763000" y="4667250"/>
            <a:ext cx="1619250" cy="38100"/>
          </a:xfrm>
          <a:prstGeom prst="rect">
            <a:avLst/>
          </a:prstGeom>
          <a:solidFill>
            <a:srgbClr val="55EFC4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329559" y="4879181"/>
            <a:ext cx="4861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5EFC4"/>
                </a:solidFill>
                <a:latin typeface="Arial Black"/>
                <a:ea typeface="Microsoft YaHei"/>
                <a:cs typeface="Arial Black"/>
              </a:rPr>
              <a:t>Cosine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279160" y="5189220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Similarity</a:t>
            </a:r>
          </a:p>
        </p:txBody>
      </p:sp>
      <p:sp>
        <p:nvSpPr>
          <p:cNvPr id="60" name="Rectangle 60"/>
          <p:cNvSpPr/>
          <p:nvPr/>
        </p:nvSpPr>
        <p:spPr>
          <a:xfrm>
            <a:off x="10668000" y="4667250"/>
            <a:ext cx="1619250" cy="952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FDCB6E"/>
            </a:solidFill>
          </a:ln>
        </p:spPr>
      </p:sp>
      <p:sp>
        <p:nvSpPr>
          <p:cNvPr id="61" name="Rectangle 61"/>
          <p:cNvSpPr/>
          <p:nvPr/>
        </p:nvSpPr>
        <p:spPr>
          <a:xfrm>
            <a:off x="10668000" y="4667250"/>
            <a:ext cx="1619250" cy="38100"/>
          </a:xfrm>
          <a:prstGeom prst="rect">
            <a:avLst/>
          </a:prstGeom>
          <a:solidFill>
            <a:srgbClr val="FDCB6E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11088291" y="487918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DCB6E"/>
                </a:solidFill>
                <a:latin typeface="Arial Black"/>
                <a:ea typeface="Microsoft YaHei"/>
                <a:cs typeface="Arial Black"/>
              </a:rPr>
              <a:t>孟菲斯波普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214164" y="5189220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UI Design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457527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12 / 15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457527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可视化成果展示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37508" y="53435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8 类图表 · 全面覆盖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047750"/>
            <a:ext cx="3524250" cy="238125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535860"/>
            <a:ext cx="3429000" cy="1119281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809131" y="3236595"/>
            <a:ext cx="10489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肘部法则+轮廓系数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286250" y="1047750"/>
            <a:ext cx="3524250" cy="238125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16" name="Imag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886" y="1095375"/>
            <a:ext cx="2302978" cy="200025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616892" y="32365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消费群体雷达图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01000" y="1047750"/>
            <a:ext cx="3619500" cy="238125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625" y="1266265"/>
            <a:ext cx="3524250" cy="1658471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9379268" y="32365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群体特征热力图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619500"/>
            <a:ext cx="3524250" cy="238125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22" name="Imag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707" y="3667125"/>
            <a:ext cx="2679837" cy="200025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923145" y="5808345"/>
            <a:ext cx="8209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PCA聚类分布图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0" y="3619500"/>
            <a:ext cx="3524250" cy="238125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923" y="3667125"/>
            <a:ext cx="1998905" cy="2000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76900" y="58083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四维混淆矩阵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01000" y="3619500"/>
            <a:ext cx="3619500" cy="238125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28" name="Imag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2642" y="3667125"/>
            <a:ext cx="2736216" cy="200025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9439275" y="58083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特征重要性图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7527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13 / 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57527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12458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不足与展望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70437" y="534352"/>
            <a:ext cx="1853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LIMITATIONS &amp; FUTURE WORK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143000"/>
            <a:ext cx="5334000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 w="19050">
            <a:solidFill>
              <a:srgbClr val="FF6B8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35355" y="1330642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主要不足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169640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样本量瓶颈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1570" y="1884045"/>
            <a:ext cx="21891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62份样本属极小样本，E/I维度仅9份外倾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165" y="2096452"/>
            <a:ext cx="8877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MBTI测量简化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1570" y="2284095"/>
            <a:ext cx="22311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每维度仅1道题，精度远低于标准93题量表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9165" y="249650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推荐冷启动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1570" y="2684145"/>
            <a:ext cx="20751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匹配范围限于62份样本，新用户无历史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1143000"/>
            <a:ext cx="5429250" cy="3619500"/>
          </a:xfrm>
          <a:prstGeom prst="roundRect">
            <a:avLst>
              <a:gd name="adj" fmla="val 3684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971711" y="1362075"/>
            <a:ext cx="18683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深度学习 · 未来方向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477000" y="1905000"/>
            <a:ext cx="4857750" cy="361950"/>
          </a:xfrm>
          <a:prstGeom prst="roundRect">
            <a:avLst>
              <a:gd name="adj" fmla="val 21053"/>
            </a:avLst>
          </a:prstGeom>
          <a:noFill/>
          <a:ln w="9525">
            <a:solidFill>
              <a:srgbClr val="FF6B8A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477000" y="1905000"/>
            <a:ext cx="47625" cy="361950"/>
          </a:xfrm>
          <a:prstGeom prst="rect">
            <a:avLst/>
          </a:prstGeom>
          <a:solidFill>
            <a:srgbClr val="FF6B8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55118" y="19521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数据增强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9570" y="1960245"/>
            <a:ext cx="17930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SDV / GAN 合成样本 → 200-300条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477000" y="2352675"/>
            <a:ext cx="4857750" cy="361950"/>
          </a:xfrm>
          <a:prstGeom prst="roundRect">
            <a:avLst>
              <a:gd name="adj" fmla="val 21053"/>
            </a:avLst>
          </a:prstGeom>
          <a:noFill/>
          <a:ln w="9525">
            <a:solidFill>
              <a:srgbClr val="00D2D3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77000" y="2352675"/>
            <a:ext cx="47625" cy="361950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655118" y="239982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深度分类器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9570" y="2407920"/>
            <a:ext cx="20091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MLP多任务学习 替代 Random Forest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77000" y="2800350"/>
            <a:ext cx="4857750" cy="361950"/>
          </a:xfrm>
          <a:prstGeom prst="roundRect">
            <a:avLst>
              <a:gd name="adj" fmla="val 21053"/>
            </a:avLst>
          </a:prstGeom>
          <a:noFill/>
          <a:ln w="9525">
            <a:solidFill>
              <a:srgbClr val="A29BFE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477000" y="2800350"/>
            <a:ext cx="47625" cy="361950"/>
          </a:xfrm>
          <a:prstGeom prst="rect">
            <a:avLst/>
          </a:prstGeom>
          <a:solidFill>
            <a:srgbClr val="A29BF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655118" y="28474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深度聚类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9570" y="2855595"/>
            <a:ext cx="18830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Autoencoder + DEC 替代 K-Means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3248025"/>
            <a:ext cx="4857750" cy="361950"/>
          </a:xfrm>
          <a:prstGeom prst="roundRect">
            <a:avLst>
              <a:gd name="adj" fmla="val 21053"/>
            </a:avLst>
          </a:prstGeom>
          <a:noFill/>
          <a:ln w="9525">
            <a:solidFill>
              <a:srgbClr val="55EFC4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477000" y="3248025"/>
            <a:ext cx="47625" cy="361950"/>
          </a:xfrm>
          <a:prstGeom prst="rect">
            <a:avLst/>
          </a:prstGeom>
          <a:solidFill>
            <a:srgbClr val="55EFC4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55118" y="3295174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EFC4"/>
                </a:solidFill>
                <a:latin typeface="Arial Black"/>
                <a:ea typeface="Microsoft YaHei"/>
                <a:cs typeface="Arial Black"/>
              </a:rPr>
              <a:t>Siamese Net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9570" y="3303270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端到端学习搭子匹配评分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477000" y="3695700"/>
            <a:ext cx="4857750" cy="361950"/>
          </a:xfrm>
          <a:prstGeom prst="roundRect">
            <a:avLst>
              <a:gd name="adj" fmla="val 21053"/>
            </a:avLst>
          </a:prstGeom>
          <a:noFill/>
          <a:ln w="9525">
            <a:solidFill>
              <a:srgbClr val="FFD93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477000" y="3695700"/>
            <a:ext cx="47625" cy="36195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655118" y="37428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协同过滤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89570" y="3750945"/>
            <a:ext cx="16010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大规模用户冷启动 + 反馈闭环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477000" y="4143375"/>
            <a:ext cx="4857750" cy="361950"/>
          </a:xfrm>
          <a:prstGeom prst="roundRect">
            <a:avLst>
              <a:gd name="adj" fmla="val 21053"/>
            </a:avLst>
          </a:prstGeom>
          <a:noFill/>
          <a:ln w="9525">
            <a:solidFill>
              <a:srgbClr val="FDCB6E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77000" y="4143375"/>
            <a:ext cx="47625" cy="361950"/>
          </a:xfrm>
          <a:prstGeom prst="rect">
            <a:avLst/>
          </a:prstGeom>
          <a:solidFill>
            <a:srgbClr val="FDCB6E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55118" y="41905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DCB6E"/>
                </a:solidFill>
                <a:latin typeface="Arial Black"/>
                <a:ea typeface="Microsoft YaHei"/>
                <a:cs typeface="Arial Black"/>
              </a:rPr>
              <a:t>云端部署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89570" y="4198620"/>
            <a:ext cx="1865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Docker + FastAPI 生产级推荐服务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11558" y="4807268"/>
            <a:ext cx="27886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数据增强 + 深度学习 = 下一个突破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3429000"/>
            <a:ext cx="5334000" cy="1333500"/>
          </a:xfrm>
          <a:prstGeom prst="roundRect">
            <a:avLst>
              <a:gd name="adj" fmla="val 10000"/>
            </a:avLst>
          </a:prstGeom>
          <a:solidFill>
            <a:srgbClr val="FDE8EC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2882265" y="3624739"/>
            <a:ext cx="7124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团队分工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84684" y="4021931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赵子荣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86479" y="4284345"/>
            <a:ext cx="14750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算法 · 模型 · 前后端 · PPT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380184" y="4021931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李海东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989993" y="4284345"/>
            <a:ext cx="12590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文献 · 问卷 · 数据清洗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475684" y="4021931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章振豪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025485" y="4284345"/>
            <a:ext cx="13790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可视化 · 前端美化 · 测试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457527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14 / 15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57527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436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4000500" y="1143000"/>
            <a:ext cx="4191000" cy="4191000"/>
          </a:xfrm>
          <a:prstGeom prst="ellipse">
            <a:avLst/>
          </a:prstGeom>
          <a:noFill/>
          <a:ln w="28575">
            <a:solidFill>
              <a:srgbClr val="FFD93D">
                <a:alpha val="30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4191000" y="1333500"/>
            <a:ext cx="3810000" cy="3810000"/>
          </a:xfrm>
          <a:prstGeom prst="ellipse">
            <a:avLst/>
          </a:prstGeom>
          <a:noFill/>
          <a:ln w="23812">
            <a:solidFill>
              <a:srgbClr val="FF6B8A">
                <a:alpha val="2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4381500" y="1524000"/>
            <a:ext cx="3429000" cy="3429000"/>
          </a:xfrm>
          <a:prstGeom prst="ellipse">
            <a:avLst/>
          </a:prstGeom>
          <a:noFill/>
          <a:ln w="19050">
            <a:solidFill>
              <a:srgbClr val="00D2D3">
                <a:alpha val="20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4572000" y="1714500"/>
            <a:ext cx="3048000" cy="3048000"/>
          </a:xfrm>
          <a:prstGeom prst="ellipse">
            <a:avLst/>
          </a:prstGeom>
          <a:noFill/>
          <a:ln w="14288">
            <a:solidFill>
              <a:srgbClr val="A29BFE">
                <a:alpha val="14999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285875" y="904875"/>
            <a:ext cx="857250" cy="857250"/>
          </a:xfrm>
          <a:prstGeom prst="ellipse">
            <a:avLst/>
          </a:prstGeom>
          <a:solidFill>
            <a:srgbClr val="FFD93D">
              <a:alpha val="20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953625" y="4810125"/>
            <a:ext cx="1047750" cy="1047750"/>
          </a:xfrm>
          <a:prstGeom prst="ellipse">
            <a:avLst/>
          </a:prstGeom>
          <a:solidFill>
            <a:srgbClr val="FF6B8A">
              <a:alpha val="20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09625" y="5191125"/>
            <a:ext cx="666750" cy="666750"/>
          </a:xfrm>
          <a:prstGeom prst="ellipse">
            <a:avLst/>
          </a:prstGeom>
          <a:solidFill>
            <a:srgbClr val="00D2D3">
              <a:alpha val="20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238250"/>
            <a:ext cx="571500" cy="571500"/>
          </a:xfrm>
          <a:prstGeom prst="ellipse">
            <a:avLst/>
          </a:prstGeom>
          <a:solidFill>
            <a:srgbClr val="A29BFE">
              <a:alpha val="20000"/>
            </a:srgbClr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2762250" y="2095500"/>
            <a:ext cx="6667500" cy="1143000"/>
          </a:xfrm>
          <a:prstGeom prst="roundRect">
            <a:avLst>
              <a:gd name="adj" fmla="val 13333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874133" y="2326005"/>
            <a:ext cx="244373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THANK YOU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238500" y="3429000"/>
            <a:ext cx="5715000" cy="476250"/>
          </a:xfrm>
          <a:prstGeom prst="roundRect">
            <a:avLst>
              <a:gd name="adj" fmla="val 20000"/>
            </a:avLst>
          </a:prstGeom>
          <a:solidFill>
            <a:srgbClr val="2D3436"/>
          </a:solidFill>
          <a:ln w="9525">
            <a:solidFill>
              <a:srgbClr val="FFD93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276850" y="357187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D93D"/>
                </a:solidFill>
                <a:latin typeface="Segoe UI"/>
                <a:ea typeface="Microsoft YaHei"/>
                <a:cs typeface="Segoe UI"/>
              </a:rPr>
              <a:t>校园搭子推荐系统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66843" y="4148614"/>
            <a:ext cx="345831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基于MBTI心理特质与微观消费特征的智能匹配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81500" y="4572000"/>
            <a:ext cx="3429000" cy="38100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77775" y="4783931"/>
            <a:ext cx="30364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机器学习 · 深度学习 · 课程大作业 | 2026.06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96649" y="6156960"/>
            <a:ext cx="17987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Questions &amp; Discussion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57527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15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